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3B7535-5850-4F53-AC28-2C8D2D1887B4}" v="3" dt="2026-09-30T18:48:25.6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itan Kalidindi" userId="31db786895b9b195" providerId="LiveId" clId="{B2AC396F-DDE9-45C2-9AFE-F7FF55CBF3E1}"/>
    <pc:docChg chg="custSel modSld">
      <pc:chgData name="Shritan Kalidindi" userId="31db786895b9b195" providerId="LiveId" clId="{B2AC396F-DDE9-45C2-9AFE-F7FF55CBF3E1}" dt="2026-09-30T18:54:21.384" v="28" actId="14100"/>
      <pc:docMkLst>
        <pc:docMk/>
      </pc:docMkLst>
      <pc:sldChg chg="modSp mod">
        <pc:chgData name="Shritan Kalidindi" userId="31db786895b9b195" providerId="LiveId" clId="{B2AC396F-DDE9-45C2-9AFE-F7FF55CBF3E1}" dt="2026-09-30T18:12:21.984" v="13" actId="20577"/>
        <pc:sldMkLst>
          <pc:docMk/>
          <pc:sldMk cId="0" sldId="257"/>
        </pc:sldMkLst>
        <pc:spChg chg="mod">
          <ac:chgData name="Shritan Kalidindi" userId="31db786895b9b195" providerId="LiveId" clId="{B2AC396F-DDE9-45C2-9AFE-F7FF55CBF3E1}" dt="2026-09-30T18:12:21.984" v="13" actId="20577"/>
          <ac:spMkLst>
            <pc:docMk/>
            <pc:sldMk cId="0" sldId="257"/>
            <ac:spMk id="7" creationId="{00000000-0000-0000-0000-000000000000}"/>
          </ac:spMkLst>
        </pc:spChg>
      </pc:sldChg>
      <pc:sldChg chg="delSp modSp mod">
        <pc:chgData name="Shritan Kalidindi" userId="31db786895b9b195" providerId="LiveId" clId="{B2AC396F-DDE9-45C2-9AFE-F7FF55CBF3E1}" dt="2026-09-30T18:54:21.384" v="28" actId="14100"/>
        <pc:sldMkLst>
          <pc:docMk/>
          <pc:sldMk cId="2579789072" sldId="260"/>
        </pc:sldMkLst>
        <pc:spChg chg="mod">
          <ac:chgData name="Shritan Kalidindi" userId="31db786895b9b195" providerId="LiveId" clId="{B2AC396F-DDE9-45C2-9AFE-F7FF55CBF3E1}" dt="2026-09-30T18:46:48.164" v="16" actId="20577"/>
          <ac:spMkLst>
            <pc:docMk/>
            <pc:sldMk cId="2579789072" sldId="260"/>
            <ac:spMk id="3" creationId="{539AB598-5650-4E46-905A-9096F4C50C3B}"/>
          </ac:spMkLst>
        </pc:spChg>
        <pc:spChg chg="del">
          <ac:chgData name="Shritan Kalidindi" userId="31db786895b9b195" providerId="LiveId" clId="{B2AC396F-DDE9-45C2-9AFE-F7FF55CBF3E1}" dt="2026-09-30T18:54:12.886" v="26" actId="478"/>
          <ac:spMkLst>
            <pc:docMk/>
            <pc:sldMk cId="2579789072" sldId="260"/>
            <ac:spMk id="27" creationId="{00000000-0000-0000-0000-000000000000}"/>
          </ac:spMkLst>
        </pc:spChg>
        <pc:graphicFrameChg chg="mod modGraphic">
          <ac:chgData name="Shritan Kalidindi" userId="31db786895b9b195" providerId="LiveId" clId="{B2AC396F-DDE9-45C2-9AFE-F7FF55CBF3E1}" dt="2026-09-30T18:54:21.384" v="28" actId="14100"/>
          <ac:graphicFrameMkLst>
            <pc:docMk/>
            <pc:sldMk cId="2579789072" sldId="260"/>
            <ac:graphicFrameMk id="4" creationId="{A1D1D3D5-3CC5-8EBF-FA92-0AEFD3058632}"/>
          </ac:graphicFrameMkLst>
        </pc:graphicFrameChg>
      </pc:sldChg>
      <pc:sldChg chg="modSp mod">
        <pc:chgData name="Shritan Kalidindi" userId="31db786895b9b195" providerId="LiveId" clId="{B2AC396F-DDE9-45C2-9AFE-F7FF55CBF3E1}" dt="2026-09-30T18:47:43.961" v="20" actId="20577"/>
        <pc:sldMkLst>
          <pc:docMk/>
          <pc:sldMk cId="117824493" sldId="261"/>
        </pc:sldMkLst>
        <pc:spChg chg="mod">
          <ac:chgData name="Shritan Kalidindi" userId="31db786895b9b195" providerId="LiveId" clId="{B2AC396F-DDE9-45C2-9AFE-F7FF55CBF3E1}" dt="2026-09-30T18:47:43.961" v="20" actId="20577"/>
          <ac:spMkLst>
            <pc:docMk/>
            <pc:sldMk cId="117824493" sldId="261"/>
            <ac:spMk id="3" creationId="{539AB598-5650-4E46-905A-9096F4C50C3B}"/>
          </ac:spMkLst>
        </pc:spChg>
      </pc:sldChg>
      <pc:sldChg chg="modSp mod">
        <pc:chgData name="Shritan Kalidindi" userId="31db786895b9b195" providerId="LiveId" clId="{B2AC396F-DDE9-45C2-9AFE-F7FF55CBF3E1}" dt="2026-09-30T18:48:25.600" v="25"/>
        <pc:sldMkLst>
          <pc:docMk/>
          <pc:sldMk cId="180699301" sldId="271"/>
        </pc:sldMkLst>
        <pc:graphicFrameChg chg="mod modGraphic">
          <ac:chgData name="Shritan Kalidindi" userId="31db786895b9b195" providerId="LiveId" clId="{B2AC396F-DDE9-45C2-9AFE-F7FF55CBF3E1}" dt="2026-09-30T18:48:25.600" v="25"/>
          <ac:graphicFrameMkLst>
            <pc:docMk/>
            <pc:sldMk cId="180699301" sldId="271"/>
            <ac:graphicFrameMk id="4" creationId="{3C96D6DD-679D-69C4-A031-0E212C5844E9}"/>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01-10-2026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01-10-2026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01-10-2026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01-10-2026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01-10-2026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01-10-2026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01-10-2026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01-10-2026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01-10-2026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01-10-2026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01-10-2026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01-10-2026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01-10-2026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txBody>
          <a:bodyPr/>
          <a:lstStyle/>
          <a:p>
            <a:endParaRPr lang="en-IN"/>
          </a:p>
        </p:txBody>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40" y="3310128"/>
            <a:ext cx="7679006" cy="77724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Theme ID - 4</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Team Name – Virtual Vanguards</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College Name – SRM Institute of Science and Technology</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Member Name &amp; Email 1-  Dheeraj </a:t>
            </a:r>
            <a:r>
              <a:rPr lang="en-US" sz="1600" dirty="0" err="1">
                <a:solidFill>
                  <a:srgbClr val="63637E"/>
                </a:solidFill>
                <a:latin typeface="Calibri" pitchFamily="34" charset="0"/>
                <a:ea typeface="Calibri" pitchFamily="34" charset="-122"/>
                <a:cs typeface="Calibri" pitchFamily="34" charset="-120"/>
              </a:rPr>
              <a:t>Yenigalla</a:t>
            </a:r>
            <a:r>
              <a:rPr lang="en-US" sz="1600" dirty="0">
                <a:solidFill>
                  <a:srgbClr val="63637E"/>
                </a:solidFill>
                <a:latin typeface="Calibri" pitchFamily="34" charset="0"/>
                <a:ea typeface="Calibri" pitchFamily="34" charset="-122"/>
                <a:cs typeface="Calibri" pitchFamily="34" charset="-120"/>
              </a:rPr>
              <a:t>, dy0263@srmist.edu.in</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Member Name &amp; Email 2- Shritan Kalidindi, sk4508@srmist.edu.in</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Member Name &amp; Email 3-  Sreeshan Reddy, sd4578@srmist.edu.in</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Member Name &amp; Email 4- </a:t>
            </a:r>
            <a:r>
              <a:rPr lang="en-US" sz="1600" dirty="0" err="1">
                <a:solidFill>
                  <a:srgbClr val="63637E"/>
                </a:solidFill>
                <a:latin typeface="Calibri" pitchFamily="34" charset="0"/>
                <a:ea typeface="Calibri" pitchFamily="34" charset="-122"/>
                <a:cs typeface="Calibri" pitchFamily="34" charset="-120"/>
              </a:rPr>
              <a:t>Srimeth</a:t>
            </a:r>
            <a:r>
              <a:rPr lang="en-US" sz="1600" dirty="0">
                <a:solidFill>
                  <a:srgbClr val="63637E"/>
                </a:solidFill>
                <a:latin typeface="Calibri" pitchFamily="34" charset="0"/>
                <a:ea typeface="Calibri" pitchFamily="34" charset="-122"/>
                <a:cs typeface="Calibri" pitchFamily="34" charset="-120"/>
              </a:rPr>
              <a:t> Tirumala Krishna, ks6260@srmist.edu.in</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Submission </a:t>
            </a:r>
            <a:r>
              <a:rPr lang="en-US" sz="1600" dirty="0" err="1">
                <a:solidFill>
                  <a:srgbClr val="63637E"/>
                </a:solidFill>
                <a:latin typeface="Calibri" pitchFamily="34" charset="0"/>
                <a:ea typeface="Calibri" pitchFamily="34" charset="-122"/>
                <a:cs typeface="Calibri" pitchFamily="34" charset="-120"/>
              </a:rPr>
              <a:t>Github</a:t>
            </a:r>
            <a:r>
              <a:rPr lang="en-US" sz="1600" dirty="0">
                <a:solidFill>
                  <a:srgbClr val="63637E"/>
                </a:solidFill>
                <a:latin typeface="Calibri" pitchFamily="34" charset="0"/>
                <a:ea typeface="Calibri" pitchFamily="34" charset="-122"/>
                <a:cs typeface="Calibri" pitchFamily="34" charset="-120"/>
              </a:rPr>
              <a:t> link </a:t>
            </a:r>
            <a:r>
              <a:rPr lang="en-US" sz="1600">
                <a:solidFill>
                  <a:srgbClr val="63637E"/>
                </a:solidFill>
                <a:latin typeface="Calibri" pitchFamily="34" charset="0"/>
                <a:ea typeface="Calibri" pitchFamily="34" charset="-122"/>
                <a:cs typeface="Calibri" pitchFamily="34" charset="-120"/>
              </a:rPr>
              <a:t>- https://github.com/shritank/streaming-live-rag</a:t>
            </a:r>
            <a:endParaRPr lang="en-US" sz="1600" dirty="0">
              <a:solidFill>
                <a:srgbClr val="63637E"/>
              </a:solidFill>
              <a:latin typeface="Calibri" pitchFamily="34" charset="0"/>
              <a:ea typeface="Calibri" pitchFamily="34" charset="-122"/>
              <a:cs typeface="Calibri" pitchFamily="34" charset="-120"/>
            </a:endParaRPr>
          </a:p>
          <a:p>
            <a:pPr marL="177800" indent="-177800">
              <a:spcAft>
                <a:spcPts val="500"/>
              </a:spcAft>
              <a:buSzPct val="100000"/>
              <a:buChar char="•"/>
            </a:pPr>
            <a:endParaRPr lang="en-US" sz="1600" dirty="0">
              <a:solidFill>
                <a:srgbClr val="63637E"/>
              </a:solidFill>
              <a:latin typeface="Calibri" pitchFamily="34" charset="0"/>
              <a:ea typeface="Calibri" pitchFamily="34" charset="-122"/>
              <a:cs typeface="Calibri" pitchFamily="34" charset="-120"/>
            </a:endParaRPr>
          </a:p>
        </p:txBody>
      </p:sp>
      <p:pic>
        <p:nvPicPr>
          <p:cNvPr id="14" name="Image 0" descr="hero_network.png"/>
          <p:cNvPicPr>
            <a:picLocks noChangeAspect="1"/>
          </p:cNvPicPr>
          <p:nvPr/>
        </p:nvPicPr>
        <p:blipFill>
          <a:blip r:embed="rId3"/>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Theme</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normAutofit/>
          </a:bodyPr>
          <a:lstStyle/>
          <a:p>
            <a:pPr marL="0" indent="0">
              <a:buNone/>
            </a:pPr>
            <a:r>
              <a:rPr lang="en-IN" sz="2000" b="1" dirty="0">
                <a:latin typeface="Times New Roman" panose="02020603050405020304" pitchFamily="18" charset="0"/>
                <a:cs typeface="Times New Roman" panose="02020603050405020304" pitchFamily="18" charset="0"/>
              </a:rPr>
              <a:t>Streaming Live RAG, </a:t>
            </a:r>
            <a:r>
              <a:rPr lang="en-US" sz="2000" b="1" dirty="0">
                <a:latin typeface="Times New Roman" panose="02020603050405020304" pitchFamily="18" charset="0"/>
                <a:cs typeface="Times New Roman" panose="02020603050405020304" pitchFamily="18" charset="0"/>
              </a:rPr>
              <a:t>where retrieval starts while the user is still speaking.</a:t>
            </a:r>
            <a:endParaRPr lang="en-IN" sz="2000" b="1" dirty="0">
              <a:latin typeface="Times New Roman" panose="02020603050405020304" pitchFamily="18" charset="0"/>
              <a:cs typeface="Times New Roman" panose="02020603050405020304" pitchFamily="18" charset="0"/>
            </a:endParaRPr>
          </a:p>
          <a:p>
            <a:pPr marL="0" indent="0">
              <a:buNone/>
            </a:pPr>
            <a:r>
              <a:rPr lang="en-US" sz="1400" dirty="0"/>
              <a:t>Standard RAG is turn-based: the user finishes, the system searches, then it answers. In live spoken settings, that order creates three problems.</a:t>
            </a:r>
          </a:p>
          <a:p>
            <a:r>
              <a:rPr lang="en-US" sz="1400" b="1" dirty="0"/>
              <a:t>Latency after speech:</a:t>
            </a:r>
            <a:r>
              <a:rPr lang="en-US" sz="1400" dirty="0"/>
              <a:t> search only begins once the user stops, so they wait for the full retrieval time on top of the answer.</a:t>
            </a:r>
          </a:p>
          <a:p>
            <a:r>
              <a:rPr lang="en-US" sz="1400" b="1" dirty="0"/>
              <a:t>Blended queries:</a:t>
            </a:r>
            <a:r>
              <a:rPr lang="en-US" sz="1400" dirty="0"/>
              <a:t> a compound request ("plan a workshop in Pune, and I need the cancellation policy and the catering options") gets squeezed into one query, and parts of it are missed.</a:t>
            </a:r>
          </a:p>
          <a:p>
            <a:r>
              <a:rPr lang="en-US" sz="1400" b="1" dirty="0"/>
              <a:t>Restarts:</a:t>
            </a:r>
            <a:r>
              <a:rPr lang="en-US" sz="1400" dirty="0"/>
              <a:t> when a detail changes ("actually, the trip was international"), the system throws the answer away and rebuilds it from scratch.</a:t>
            </a:r>
          </a:p>
          <a:p>
            <a:pPr marL="0" indent="0">
              <a:buNone/>
            </a:pPr>
            <a:r>
              <a:rPr lang="en-US" sz="1400" b="1" dirty="0"/>
              <a:t>What the theme asks for:</a:t>
            </a:r>
            <a:r>
              <a:rPr lang="en-US" sz="1400" dirty="0"/>
              <a:t> treat speech as a stream. Decide </a:t>
            </a:r>
            <a:r>
              <a:rPr lang="en-US" sz="1400" i="1" dirty="0"/>
              <a:t>when</a:t>
            </a:r>
            <a:r>
              <a:rPr lang="en-US" sz="1400" dirty="0"/>
              <a:t> to search, split what was said into parts, update answers in place, and ground every claim in a source.</a:t>
            </a:r>
          </a:p>
          <a:p>
            <a:r>
              <a:rPr lang="en-US" sz="1400" dirty="0"/>
              <a:t>decide </a:t>
            </a:r>
            <a:r>
              <a:rPr lang="en-US" sz="1400" i="1" dirty="0"/>
              <a:t>when</a:t>
            </a:r>
            <a:r>
              <a:rPr lang="en-US" sz="1400" dirty="0"/>
              <a:t> an intent is stable enough to start searching</a:t>
            </a:r>
          </a:p>
          <a:p>
            <a:r>
              <a:rPr lang="en-US" sz="1400" dirty="0"/>
              <a:t>split what was said into separate parts</a:t>
            </a:r>
          </a:p>
          <a:p>
            <a:r>
              <a:rPr lang="en-US" sz="1400" dirty="0"/>
              <a:t>update answers in place when new details arrive</a:t>
            </a:r>
          </a:p>
          <a:p>
            <a:r>
              <a:rPr lang="en-US" sz="1400" dirty="0"/>
              <a:t>ground every claim in a source, so speed doesn't cost trust</a:t>
            </a:r>
          </a:p>
          <a:p>
            <a:pPr marL="0" indent="0">
              <a:buNone/>
            </a:pPr>
            <a:r>
              <a:rPr lang="en-US" sz="1400" b="1" dirty="0"/>
              <a:t>The challenge:</a:t>
            </a:r>
            <a:r>
              <a:rPr lang="en-US" sz="1400" dirty="0"/>
              <a:t> searching early risks acting on half-finished sentences. The real problem is knowing when to retrieve, not just retrieving faster.</a:t>
            </a:r>
          </a:p>
          <a:p>
            <a:pPr marL="0" indent="0">
              <a:buNone/>
            </a:pPr>
            <a:endParaRPr lang="en-US" sz="1400" dirty="0"/>
          </a:p>
          <a:p>
            <a:pPr marL="0" indent="0">
              <a:buNone/>
            </a:pPr>
            <a:endParaRPr lang="en-US"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Existing Solutions &amp; Gaps</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normAutofit/>
          </a:bodyPr>
          <a:lstStyle/>
          <a:p>
            <a:pPr marL="0" indent="0">
              <a:buNone/>
            </a:pPr>
            <a:r>
              <a:rPr lang="en-US" sz="1800" b="1" dirty="0">
                <a:latin typeface="Times New Roman" panose="02020603050405020304" pitchFamily="18" charset="0"/>
                <a:cs typeface="Times New Roman" panose="02020603050405020304" pitchFamily="18" charset="0"/>
              </a:rPr>
              <a:t>Each existing approach solves one piece of the live-RAG problem. None solves all of it.</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IN" sz="1400" dirty="0">
              <a:latin typeface="Times New Roman" panose="02020603050405020304" pitchFamily="18" charset="0"/>
              <a:cs typeface="Times New Roman" panose="02020603050405020304" pitchFamily="18" charset="0"/>
            </a:endParaRPr>
          </a:p>
          <a:p>
            <a:pPr marL="0" indent="0">
              <a:buNone/>
            </a:pPr>
            <a:endParaRPr lang="en-IN" sz="1400" dirty="0">
              <a:latin typeface="Times New Roman" panose="02020603050405020304" pitchFamily="18" charset="0"/>
              <a:cs typeface="Times New Roman" panose="02020603050405020304" pitchFamily="18" charset="0"/>
            </a:endParaRPr>
          </a:p>
          <a:p>
            <a:pPr marL="0" indent="0">
              <a:buNone/>
            </a:pPr>
            <a:endParaRPr lang="en-IN" sz="1400" dirty="0">
              <a:latin typeface="Times New Roman" panose="02020603050405020304" pitchFamily="18" charset="0"/>
              <a:cs typeface="Times New Roman" panose="02020603050405020304" pitchFamily="18" charset="0"/>
            </a:endParaRPr>
          </a:p>
          <a:p>
            <a:pPr marL="0" indent="0">
              <a:buNone/>
            </a:pPr>
            <a:endParaRPr lang="en-IN" sz="1400" dirty="0">
              <a:latin typeface="Times New Roman" panose="02020603050405020304" pitchFamily="18" charset="0"/>
              <a:cs typeface="Times New Roman" panose="02020603050405020304" pitchFamily="18" charset="0"/>
            </a:endParaRPr>
          </a:p>
          <a:p>
            <a:pPr marL="0" indent="0">
              <a:buNone/>
            </a:pPr>
            <a:endParaRPr lang="en-IN" sz="1400" dirty="0">
              <a:latin typeface="Times New Roman" panose="02020603050405020304" pitchFamily="18" charset="0"/>
              <a:cs typeface="Times New Roman" panose="02020603050405020304" pitchFamily="18" charset="0"/>
            </a:endParaRPr>
          </a:p>
          <a:p>
            <a:pPr marL="0" indent="0">
              <a:buNone/>
            </a:pPr>
            <a:endParaRPr lang="en-IN" sz="1400" dirty="0">
              <a:latin typeface="Times New Roman" panose="02020603050405020304" pitchFamily="18" charset="0"/>
              <a:cs typeface="Times New Roman" panose="02020603050405020304" pitchFamily="18" charset="0"/>
            </a:endParaRPr>
          </a:p>
          <a:p>
            <a:pPr marL="0" indent="0">
              <a:buNone/>
            </a:pPr>
            <a:r>
              <a:rPr lang="en-US" sz="1400" b="1" dirty="0">
                <a:latin typeface="Times New Roman" panose="02020603050405020304" pitchFamily="18" charset="0"/>
                <a:cs typeface="Times New Roman" panose="02020603050405020304" pitchFamily="18" charset="0"/>
              </a:rPr>
              <a:t>The gap:</a:t>
            </a:r>
            <a:r>
              <a:rPr lang="en-US" sz="1400" dirty="0">
                <a:latin typeface="Times New Roman" panose="02020603050405020304" pitchFamily="18" charset="0"/>
                <a:cs typeface="Times New Roman" panose="02020603050405020304" pitchFamily="18" charset="0"/>
              </a:rPr>
              <a:t> none combines early retrieval, parallel sub-queries, in-place refinement and verifiable citations in one pipeline. Speed-focused systems measure latency or cache hits, and generation-focused systems measure answer quality, but neither checks that each claim can be traced to its source.</a:t>
            </a:r>
          </a:p>
          <a:p>
            <a:pPr marL="0" indent="0">
              <a:buNone/>
            </a:pPr>
            <a:r>
              <a:rPr lang="en-US" sz="1400" b="1" dirty="0">
                <a:latin typeface="Times New Roman" panose="02020603050405020304" pitchFamily="18" charset="0"/>
                <a:cs typeface="Times New Roman" panose="02020603050405020304" pitchFamily="18" charset="0"/>
              </a:rPr>
              <a:t>Our difference:</a:t>
            </a:r>
            <a:r>
              <a:rPr lang="en-US" sz="1400" dirty="0">
                <a:latin typeface="Times New Roman" panose="02020603050405020304" pitchFamily="18" charset="0"/>
                <a:cs typeface="Times New Roman" panose="02020603050405020304" pitchFamily="18" charset="0"/>
              </a:rPr>
              <a:t> most systems ask a model to </a:t>
            </a:r>
            <a:r>
              <a:rPr lang="en-US" sz="1400" i="1" dirty="0">
                <a:latin typeface="Times New Roman" panose="02020603050405020304" pitchFamily="18" charset="0"/>
                <a:cs typeface="Times New Roman" panose="02020603050405020304" pitchFamily="18" charset="0"/>
              </a:rPr>
              <a:t>behave</a:t>
            </a:r>
            <a:r>
              <a:rPr lang="en-US" sz="1400" dirty="0">
                <a:latin typeface="Times New Roman" panose="02020603050405020304" pitchFamily="18" charset="0"/>
                <a:cs typeface="Times New Roman" panose="02020603050405020304" pitchFamily="18" charset="0"/>
              </a:rPr>
              <a:t> faithfully. Ours makes unfaithful answers structurally impossible, because every claim is a verbatim corpus sentence with its citation. Speed then comes from doing the search during speech, not from cutting corners on evidence.</a:t>
            </a:r>
          </a:p>
          <a:p>
            <a:pPr marL="0" indent="0">
              <a:buNone/>
            </a:pPr>
            <a:endParaRPr lang="en-IN" sz="1400"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E335989D-36C4-396B-02FC-002D0E80F71E}"/>
              </a:ext>
            </a:extLst>
          </p:cNvPr>
          <p:cNvGraphicFramePr>
            <a:graphicFrameLocks noGrp="1"/>
          </p:cNvGraphicFramePr>
          <p:nvPr>
            <p:extLst>
              <p:ext uri="{D42A27DB-BD31-4B8C-83A1-F6EECF244321}">
                <p14:modId xmlns:p14="http://schemas.microsoft.com/office/powerpoint/2010/main" val="104129163"/>
              </p:ext>
            </p:extLst>
          </p:nvPr>
        </p:nvGraphicFramePr>
        <p:xfrm>
          <a:off x="838200" y="2446814"/>
          <a:ext cx="10515600" cy="1676400"/>
        </p:xfrm>
        <a:graphic>
          <a:graphicData uri="http://schemas.openxmlformats.org/drawingml/2006/table">
            <a:tbl>
              <a:tblPr/>
              <a:tblGrid>
                <a:gridCol w="3505200">
                  <a:extLst>
                    <a:ext uri="{9D8B030D-6E8A-4147-A177-3AD203B41FA5}">
                      <a16:colId xmlns:a16="http://schemas.microsoft.com/office/drawing/2014/main" val="3009997403"/>
                    </a:ext>
                  </a:extLst>
                </a:gridCol>
                <a:gridCol w="3505200">
                  <a:extLst>
                    <a:ext uri="{9D8B030D-6E8A-4147-A177-3AD203B41FA5}">
                      <a16:colId xmlns:a16="http://schemas.microsoft.com/office/drawing/2014/main" val="2837067917"/>
                    </a:ext>
                  </a:extLst>
                </a:gridCol>
                <a:gridCol w="3505200">
                  <a:extLst>
                    <a:ext uri="{9D8B030D-6E8A-4147-A177-3AD203B41FA5}">
                      <a16:colId xmlns:a16="http://schemas.microsoft.com/office/drawing/2014/main" val="2167992679"/>
                    </a:ext>
                  </a:extLst>
                </a:gridCol>
              </a:tblGrid>
              <a:tr h="0">
                <a:tc>
                  <a:txBody>
                    <a:bodyPr/>
                    <a:lstStyle/>
                    <a:p>
                      <a:pPr algn="ctr">
                        <a:buNone/>
                      </a:pPr>
                      <a:r>
                        <a:rPr lang="en-IN" sz="1400" b="1" dirty="0">
                          <a:latin typeface="Times New Roman" panose="02020603050405020304" pitchFamily="18" charset="0"/>
                          <a:cs typeface="Times New Roman" panose="02020603050405020304" pitchFamily="18" charset="0"/>
                        </a:rPr>
                        <a:t>Approach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dirty="0">
                          <a:latin typeface="Times New Roman" panose="02020603050405020304" pitchFamily="18" charset="0"/>
                          <a:cs typeface="Times New Roman" panose="02020603050405020304" pitchFamily="18" charset="0"/>
                        </a:rPr>
                        <a:t>The piece it solves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400" b="1" dirty="0">
                          <a:latin typeface="Times New Roman" panose="02020603050405020304" pitchFamily="18" charset="0"/>
                          <a:cs typeface="Times New Roman" panose="02020603050405020304" pitchFamily="18" charset="0"/>
                        </a:rPr>
                        <a:t>What's left open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735807"/>
                  </a:ext>
                </a:extLst>
              </a:tr>
              <a:tr h="0">
                <a:tc>
                  <a:txBody>
                    <a:bodyPr/>
                    <a:lstStyle/>
                    <a:p>
                      <a:pPr>
                        <a:buNone/>
                      </a:pPr>
                      <a:r>
                        <a:rPr lang="en-IN" sz="1200" b="1" dirty="0">
                          <a:latin typeface="Times New Roman" panose="02020603050405020304" pitchFamily="18" charset="0"/>
                          <a:cs typeface="Times New Roman" panose="02020603050405020304" pitchFamily="18" charset="0"/>
                        </a:rPr>
                        <a:t>Standard RAG</a:t>
                      </a:r>
                      <a:endParaRPr lang="en-IN" sz="12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latin typeface="Times New Roman" panose="02020603050405020304" pitchFamily="18" charset="0"/>
                          <a:cs typeface="Times New Roman" panose="02020603050405020304" pitchFamily="18" charset="0"/>
                        </a:rPr>
                        <a:t>Grounds answers in a document corpus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imes New Roman" panose="02020603050405020304" pitchFamily="18" charset="0"/>
                          <a:cs typeface="Times New Roman" panose="02020603050405020304" pitchFamily="18" charset="0"/>
                        </a:rPr>
                        <a:t>Waits for the full utterance, sends one blended query, restarts when a detail changes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2246395"/>
                  </a:ext>
                </a:extLst>
              </a:tr>
              <a:tr h="0">
                <a:tc>
                  <a:txBody>
                    <a:bodyPr/>
                    <a:lstStyle/>
                    <a:p>
                      <a:pPr>
                        <a:buNone/>
                      </a:pPr>
                      <a:r>
                        <a:rPr lang="en-US" sz="1200" b="1" dirty="0">
                          <a:latin typeface="Times New Roman" panose="02020603050405020304" pitchFamily="18" charset="0"/>
                          <a:cs typeface="Times New Roman" panose="02020603050405020304" pitchFamily="18" charset="0"/>
                        </a:rPr>
                        <a:t>Streaming / speculative retrieval</a:t>
                      </a:r>
                      <a:r>
                        <a:rPr lang="en-US" sz="1200" dirty="0">
                          <a:latin typeface="Times New Roman" panose="02020603050405020304" pitchFamily="18" charset="0"/>
                          <a:cs typeface="Times New Roman" panose="02020603050405020304" pitchFamily="18" charset="0"/>
                        </a:rPr>
                        <a:t> (e.g. Stream RAG, 2025; </a:t>
                      </a:r>
                      <a:r>
                        <a:rPr lang="en-US" sz="1200" dirty="0" err="1">
                          <a:latin typeface="Times New Roman" panose="02020603050405020304" pitchFamily="18" charset="0"/>
                          <a:cs typeface="Times New Roman" panose="02020603050405020304" pitchFamily="18" charset="0"/>
                        </a:rPr>
                        <a:t>VoiceAgentRAG</a:t>
                      </a:r>
                      <a:r>
                        <a:rPr lang="en-US" sz="1200" dirty="0">
                          <a:latin typeface="Times New Roman" panose="02020603050405020304" pitchFamily="18" charset="0"/>
                          <a:cs typeface="Times New Roman" panose="02020603050405020304" pitchFamily="18" charset="0"/>
                        </a:rPr>
                        <a:t>, 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latin typeface="Times New Roman" panose="02020603050405020304" pitchFamily="18" charset="0"/>
                          <a:cs typeface="Times New Roman" panose="02020603050405020304" pitchFamily="18" charset="0"/>
                        </a:rPr>
                        <a:t>Starts work before the user finishes, or prefetches to cut latency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200">
                          <a:latin typeface="Times New Roman" panose="02020603050405020304" pitchFamily="18" charset="0"/>
                          <a:cs typeface="Times New Roman" panose="02020603050405020304" pitchFamily="18" charset="0"/>
                        </a:rPr>
                        <a:t>No per-intent decomposition, no in-place refinement, no citation checking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6364129"/>
                  </a:ext>
                </a:extLst>
              </a:tr>
              <a:tr h="0">
                <a:tc>
                  <a:txBody>
                    <a:bodyPr/>
                    <a:lstStyle/>
                    <a:p>
                      <a:pPr>
                        <a:buNone/>
                      </a:pPr>
                      <a:r>
                        <a:rPr lang="en-IN" sz="1200" b="1">
                          <a:latin typeface="Times New Roman" panose="02020603050405020304" pitchFamily="18" charset="0"/>
                          <a:cs typeface="Times New Roman" panose="02020603050405020304" pitchFamily="18" charset="0"/>
                        </a:rPr>
                        <a:t>LLM-based agents</a:t>
                      </a:r>
                      <a:endParaRPr lang="en-IN"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Times New Roman" panose="02020603050405020304" pitchFamily="18" charset="0"/>
                          <a:cs typeface="Times New Roman" panose="02020603050405020304" pitchFamily="18" charset="0"/>
                        </a:rPr>
                        <a:t>Flexible multi-step reasoning and tool use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latin typeface="Times New Roman" panose="02020603050405020304" pitchFamily="18" charset="0"/>
                          <a:cs typeface="Times New Roman" panose="02020603050405020304" pitchFamily="18" charset="0"/>
                        </a:rPr>
                        <a:t>An LLM call sits on the critical path, and citations may not truly support the claims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1363393"/>
                  </a:ext>
                </a:extLst>
              </a:tr>
            </a:tbl>
          </a:graphicData>
        </a:graphic>
      </p:graphicFrame>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909917" y="266513"/>
            <a:ext cx="10515600" cy="1325563"/>
          </a:xfrm>
        </p:spPr>
        <p:txBody>
          <a:bodyPr/>
          <a:lstStyle/>
          <a:p>
            <a:r>
              <a:rPr lang="en-IN" b="1" dirty="0">
                <a:solidFill>
                  <a:srgbClr val="704EA6"/>
                </a:solidFill>
                <a:latin typeface="+mn-lt"/>
              </a:rPr>
              <a:t>Our Solutions &amp; Architecture Diagram</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a:xfrm>
            <a:off x="838200" y="1320800"/>
            <a:ext cx="10515600" cy="558800"/>
          </a:xfrm>
        </p:spPr>
        <p:txBody>
          <a:bodyPr>
            <a:noAutofit/>
          </a:bodyPr>
          <a:lstStyle/>
          <a:p>
            <a:pPr marL="0" indent="0">
              <a:buNone/>
            </a:pPr>
            <a:r>
              <a:rPr lang="en-US" sz="1400" dirty="0">
                <a:latin typeface="Times New Roman" panose="02020603050405020304" pitchFamily="18" charset="0"/>
                <a:cs typeface="Times New Roman" panose="02020603050405020304" pitchFamily="18" charset="0"/>
              </a:rPr>
              <a:t>Our engine treats speech as a stream: it decides when to search, splits what was said, and builds a cited answer that updates in place.</a:t>
            </a:r>
          </a:p>
        </p:txBody>
      </p:sp>
      <p:graphicFrame>
        <p:nvGraphicFramePr>
          <p:cNvPr id="4" name="Table 3">
            <a:extLst>
              <a:ext uri="{FF2B5EF4-FFF2-40B4-BE49-F238E27FC236}">
                <a16:creationId xmlns:a16="http://schemas.microsoft.com/office/drawing/2014/main" id="{A1D1D3D5-3CC5-8EBF-FA92-0AEFD3058632}"/>
              </a:ext>
            </a:extLst>
          </p:cNvPr>
          <p:cNvGraphicFramePr>
            <a:graphicFrameLocks noGrp="1"/>
          </p:cNvGraphicFramePr>
          <p:nvPr>
            <p:extLst>
              <p:ext uri="{D42A27DB-BD31-4B8C-83A1-F6EECF244321}">
                <p14:modId xmlns:p14="http://schemas.microsoft.com/office/powerpoint/2010/main" val="810758807"/>
              </p:ext>
            </p:extLst>
          </p:nvPr>
        </p:nvGraphicFramePr>
        <p:xfrm>
          <a:off x="838200" y="4508499"/>
          <a:ext cx="10515600" cy="1873641"/>
        </p:xfrm>
        <a:graphic>
          <a:graphicData uri="http://schemas.openxmlformats.org/drawingml/2006/table">
            <a:tbl>
              <a:tblPr/>
              <a:tblGrid>
                <a:gridCol w="3505200">
                  <a:extLst>
                    <a:ext uri="{9D8B030D-6E8A-4147-A177-3AD203B41FA5}">
                      <a16:colId xmlns:a16="http://schemas.microsoft.com/office/drawing/2014/main" val="379847410"/>
                    </a:ext>
                  </a:extLst>
                </a:gridCol>
                <a:gridCol w="3505200">
                  <a:extLst>
                    <a:ext uri="{9D8B030D-6E8A-4147-A177-3AD203B41FA5}">
                      <a16:colId xmlns:a16="http://schemas.microsoft.com/office/drawing/2014/main" val="3904904094"/>
                    </a:ext>
                  </a:extLst>
                </a:gridCol>
                <a:gridCol w="3505200">
                  <a:extLst>
                    <a:ext uri="{9D8B030D-6E8A-4147-A177-3AD203B41FA5}">
                      <a16:colId xmlns:a16="http://schemas.microsoft.com/office/drawing/2014/main" val="2185174034"/>
                    </a:ext>
                  </a:extLst>
                </a:gridCol>
              </a:tblGrid>
              <a:tr h="340662">
                <a:tc>
                  <a:txBody>
                    <a:bodyPr/>
                    <a:lstStyle/>
                    <a:p>
                      <a:pPr algn="ctr">
                        <a:buNone/>
                      </a:pPr>
                      <a:r>
                        <a:rPr lang="en-IN" sz="1400" b="1" dirty="0">
                          <a:latin typeface="Times New Roman" panose="02020603050405020304" pitchFamily="18" charset="0"/>
                          <a:cs typeface="Times New Roman" panose="02020603050405020304" pitchFamily="18" charset="0"/>
                        </a:rPr>
                        <a:t>Label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latin typeface="Times New Roman" panose="02020603050405020304" pitchFamily="18" charset="0"/>
                          <a:cs typeface="Times New Roman" panose="02020603050405020304" pitchFamily="18" charset="0"/>
                        </a:rPr>
                        <a:t>Where it goes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latin typeface="Times New Roman" panose="02020603050405020304" pitchFamily="18" charset="0"/>
                          <a:cs typeface="Times New Roman" panose="02020603050405020304" pitchFamily="18" charset="0"/>
                        </a:rPr>
                        <a:t>What it means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6928315"/>
                  </a:ext>
                </a:extLst>
              </a:tr>
              <a:tr h="510993">
                <a:tc>
                  <a:txBody>
                    <a:bodyPr/>
                    <a:lstStyle/>
                    <a:p>
                      <a:pPr>
                        <a:buNone/>
                      </a:pPr>
                      <a:r>
                        <a:rPr lang="en-IN" sz="1200" b="1" dirty="0">
                          <a:latin typeface="Times New Roman" panose="02020603050405020304" pitchFamily="18" charset="0"/>
                          <a:cs typeface="Times New Roman" panose="02020603050405020304" pitchFamily="18" charset="0"/>
                        </a:rPr>
                        <a:t>① Early trigger</a:t>
                      </a:r>
                      <a:endParaRPr lang="en-IN" sz="12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On the Controller box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dirty="0">
                          <a:latin typeface="Times New Roman" panose="02020603050405020304" pitchFamily="18" charset="0"/>
                          <a:cs typeface="Times New Roman" panose="02020603050405020304" pitchFamily="18" charset="0"/>
                        </a:rPr>
                        <a:t>A stable partial phrase starts retrieval mid-speech, before the user stops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2986111"/>
                  </a:ext>
                </a:extLst>
              </a:tr>
              <a:tr h="510993">
                <a:tc>
                  <a:txBody>
                    <a:bodyPr/>
                    <a:lstStyle/>
                    <a:p>
                      <a:pPr>
                        <a:buNone/>
                      </a:pPr>
                      <a:r>
                        <a:rPr lang="en-IN" sz="1200" b="1" dirty="0">
                          <a:latin typeface="Times New Roman" panose="02020603050405020304" pitchFamily="18" charset="0"/>
                          <a:cs typeface="Times New Roman" panose="02020603050405020304" pitchFamily="18" charset="0"/>
                        </a:rPr>
                        <a:t>② Parallel split</a:t>
                      </a:r>
                      <a:endParaRPr lang="en-IN" sz="12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dirty="0">
                          <a:latin typeface="Times New Roman" panose="02020603050405020304" pitchFamily="18" charset="0"/>
                          <a:cs typeface="Times New Roman" panose="02020603050405020304" pitchFamily="18" charset="0"/>
                        </a:rPr>
                        <a:t>Arrow fanning out after the Controller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Times New Roman" panose="02020603050405020304" pitchFamily="18" charset="0"/>
                          <a:cs typeface="Times New Roman" panose="02020603050405020304" pitchFamily="18" charset="0"/>
                        </a:rPr>
                        <a:t>Compound requests become separate sub-queries, searched at the same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0523990"/>
                  </a:ext>
                </a:extLst>
              </a:tr>
              <a:tr h="510993">
                <a:tc>
                  <a:txBody>
                    <a:bodyPr/>
                    <a:lstStyle/>
                    <a:p>
                      <a:pPr>
                        <a:buNone/>
                      </a:pPr>
                      <a:r>
                        <a:rPr lang="en-IN" sz="1200" b="1">
                          <a:latin typeface="Times New Roman" panose="02020603050405020304" pitchFamily="18" charset="0"/>
                          <a:cs typeface="Times New Roman" panose="02020603050405020304" pitchFamily="18" charset="0"/>
                        </a:rPr>
                        <a:t>③ Versioned refinement</a:t>
                      </a:r>
                      <a:endParaRPr lang="en-IN"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dirty="0">
                          <a:latin typeface="Times New Roman" panose="02020603050405020304" pitchFamily="18" charset="0"/>
                          <a:cs typeface="Times New Roman" panose="02020603050405020304" pitchFamily="18" charset="0"/>
                        </a:rPr>
                        <a:t>Loop back onto the Synthesis box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dirty="0">
                          <a:latin typeface="Times New Roman" panose="02020603050405020304" pitchFamily="18" charset="0"/>
                          <a:cs typeface="Times New Roman" panose="02020603050405020304" pitchFamily="18" charset="0"/>
                        </a:rPr>
                        <a:t>A late detail searches only the new part and produces v2 from v1, with the parent linked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40664904"/>
                  </a:ext>
                </a:extLst>
              </a:tr>
            </a:tbl>
          </a:graphicData>
        </a:graphic>
      </p:graphicFrame>
      <p:sp>
        <p:nvSpPr>
          <p:cNvPr id="5" name="Dgm Input"/>
          <p:cNvSpPr/>
          <p:nvPr/>
        </p:nvSpPr>
        <p:spPr>
          <a:xfrm>
            <a:off x="838200" y="2362200"/>
            <a:ext cx="1270000" cy="1270000"/>
          </a:xfrm>
          <a:prstGeom prst="roundRect">
            <a:avLst>
              <a:gd name="adj" fmla="val 12000"/>
            </a:avLst>
          </a:prstGeom>
          <a:solidFill>
            <a:srgbClr val="EFE8F8"/>
          </a:solidFill>
          <a:ln w="15875">
            <a:solidFill>
              <a:srgbClr val="7A52A8"/>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200" b="1">
                <a:solidFill>
                  <a:srgbClr val="222222"/>
                </a:solidFill>
              </a:rPr>
              <a:t>Transcript chunks</a:t>
            </a:r>
          </a:p>
          <a:p>
            <a:pPr algn="ctr"/>
            <a:r>
              <a:rPr sz="900">
                <a:solidFill>
                  <a:srgbClr val="222222"/>
                </a:solidFill>
              </a:rPr>
              <a:t>typed text, or optional Whisper audio</a:t>
            </a:r>
          </a:p>
        </p:txBody>
      </p:sp>
      <p:sp>
        <p:nvSpPr>
          <p:cNvPr id="6" name="Dgm Controller"/>
          <p:cNvSpPr/>
          <p:nvPr/>
        </p:nvSpPr>
        <p:spPr>
          <a:xfrm>
            <a:off x="2362200" y="2362200"/>
            <a:ext cx="1574800" cy="1270000"/>
          </a:xfrm>
          <a:prstGeom prst="roundRect">
            <a:avLst>
              <a:gd name="adj" fmla="val 12000"/>
            </a:avLst>
          </a:prstGeom>
          <a:solidFill>
            <a:srgbClr val="5B3A8C"/>
          </a:solidFill>
          <a:ln w="15875">
            <a:solidFill>
              <a:srgbClr val="5B3A8C"/>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200" b="1">
                <a:solidFill>
                  <a:srgbClr val="FFFFFF"/>
                </a:solidFill>
              </a:rPr>
              <a:t>① Controller</a:t>
            </a:r>
          </a:p>
          <a:p>
            <a:pPr algn="ctr"/>
            <a:r>
              <a:rPr sz="900">
                <a:solidFill>
                  <a:srgbClr val="FFFFFF"/>
                </a:solidFill>
              </a:rPr>
              <a:t>WAIT / RETRIEVE / SUPPRESS
stable partial → search early</a:t>
            </a:r>
          </a:p>
        </p:txBody>
      </p:sp>
      <p:sp>
        <p:nvSpPr>
          <p:cNvPr id="7" name="Dgm Retrieval"/>
          <p:cNvSpPr/>
          <p:nvPr/>
        </p:nvSpPr>
        <p:spPr>
          <a:xfrm>
            <a:off x="6070600" y="2362200"/>
            <a:ext cx="1854200" cy="1270000"/>
          </a:xfrm>
          <a:prstGeom prst="roundRect">
            <a:avLst>
              <a:gd name="adj" fmla="val 12000"/>
            </a:avLst>
          </a:prstGeom>
          <a:solidFill>
            <a:srgbClr val="EFE8F8"/>
          </a:solidFill>
          <a:ln w="15875">
            <a:solidFill>
              <a:srgbClr val="7A52A8"/>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200" b="1">
                <a:solidFill>
                  <a:srgbClr val="222222"/>
                </a:solidFill>
              </a:rPr>
              <a:t>Hybrid retrieval</a:t>
            </a:r>
          </a:p>
          <a:p>
            <a:pPr algn="ctr"/>
            <a:r>
              <a:rPr sz="900">
                <a:solidFill>
                  <a:srgbClr val="222222"/>
                </a:solidFill>
              </a:rPr>
              <a:t>BM25 + e5 dense → fusion → cross-encoder rerank</a:t>
            </a:r>
          </a:p>
        </p:txBody>
      </p:sp>
      <p:sp>
        <p:nvSpPr>
          <p:cNvPr id="8" name="Dgm Synthesis"/>
          <p:cNvSpPr/>
          <p:nvPr/>
        </p:nvSpPr>
        <p:spPr>
          <a:xfrm>
            <a:off x="8178800" y="2362200"/>
            <a:ext cx="1574800" cy="1270000"/>
          </a:xfrm>
          <a:prstGeom prst="roundRect">
            <a:avLst>
              <a:gd name="adj" fmla="val 12000"/>
            </a:avLst>
          </a:prstGeom>
          <a:solidFill>
            <a:srgbClr val="EFE8F8"/>
          </a:solidFill>
          <a:ln w="15875">
            <a:solidFill>
              <a:srgbClr val="7A52A8"/>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200" b="1">
                <a:solidFill>
                  <a:srgbClr val="222222"/>
                </a:solidFill>
              </a:rPr>
              <a:t>Grounded synthesis</a:t>
            </a:r>
          </a:p>
          <a:p>
            <a:pPr algn="ctr"/>
            <a:r>
              <a:rPr sz="900">
                <a:solidFill>
                  <a:srgbClr val="222222"/>
                </a:solidFill>
              </a:rPr>
              <a:t>refusal gate · grounding check · answer version</a:t>
            </a:r>
          </a:p>
        </p:txBody>
      </p:sp>
      <p:sp>
        <p:nvSpPr>
          <p:cNvPr id="9" name="Dgm Answer"/>
          <p:cNvSpPr/>
          <p:nvPr/>
        </p:nvSpPr>
        <p:spPr>
          <a:xfrm>
            <a:off x="10007600" y="2362200"/>
            <a:ext cx="1346200" cy="1270000"/>
          </a:xfrm>
          <a:prstGeom prst="roundRect">
            <a:avLst>
              <a:gd name="adj" fmla="val 12000"/>
            </a:avLst>
          </a:prstGeom>
          <a:solidFill>
            <a:srgbClr val="E6F4EA"/>
          </a:solidFill>
          <a:ln w="15875">
            <a:solidFill>
              <a:srgbClr val="2E7D4F"/>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200" b="1">
                <a:solidFill>
                  <a:srgbClr val="222222"/>
                </a:solidFill>
              </a:rPr>
              <a:t>Cited answer</a:t>
            </a:r>
          </a:p>
          <a:p>
            <a:pPr algn="ctr"/>
            <a:r>
              <a:rPr sz="900">
                <a:solidFill>
                  <a:srgbClr val="222222"/>
                </a:solidFill>
              </a:rPr>
              <a:t>every claim = a corpus sentence + [Doc_ID §] citation</a:t>
            </a:r>
          </a:p>
        </p:txBody>
      </p:sp>
      <p:sp>
        <p:nvSpPr>
          <p:cNvPr id="10" name="Dgm Split label"/>
          <p:cNvSpPr txBox="1"/>
          <p:nvPr/>
        </p:nvSpPr>
        <p:spPr>
          <a:xfrm>
            <a:off x="4343400" y="2057400"/>
            <a:ext cx="1320800" cy="203200"/>
          </a:xfrm>
          <a:prstGeom prst="rect">
            <a:avLst/>
          </a:prstGeom>
          <a:noFill/>
        </p:spPr>
        <p:txBody>
          <a:bodyPr wrap="square" lIns="25400" tIns="0" rIns="25400" bIns="0">
            <a:spAutoFit/>
          </a:bodyPr>
          <a:lstStyle/>
          <a:p>
            <a:pPr algn="ctr"/>
            <a:r>
              <a:rPr sz="1000" b="1" i="0">
                <a:solidFill>
                  <a:srgbClr val="C06A00"/>
                </a:solidFill>
              </a:rPr>
              <a:t>② parallel split</a:t>
            </a:r>
          </a:p>
        </p:txBody>
      </p:sp>
      <p:sp>
        <p:nvSpPr>
          <p:cNvPr id="11" name="Dgm Sub-query 1"/>
          <p:cNvSpPr/>
          <p:nvPr/>
        </p:nvSpPr>
        <p:spPr>
          <a:xfrm>
            <a:off x="4419600" y="2362200"/>
            <a:ext cx="1168400" cy="355600"/>
          </a:xfrm>
          <a:prstGeom prst="roundRect">
            <a:avLst>
              <a:gd name="adj" fmla="val 12000"/>
            </a:avLst>
          </a:prstGeom>
          <a:solidFill>
            <a:srgbClr val="FFFFFF"/>
          </a:solidFill>
          <a:ln w="15875">
            <a:solidFill>
              <a:srgbClr val="C06A00"/>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000" b="1">
                <a:solidFill>
                  <a:srgbClr val="222222"/>
                </a:solidFill>
              </a:rPr>
              <a:t>sub-query 1</a:t>
            </a:r>
          </a:p>
        </p:txBody>
      </p:sp>
      <p:sp>
        <p:nvSpPr>
          <p:cNvPr id="12" name="Dgm Sub-query 2"/>
          <p:cNvSpPr/>
          <p:nvPr/>
        </p:nvSpPr>
        <p:spPr>
          <a:xfrm>
            <a:off x="4419600" y="2819400"/>
            <a:ext cx="1168400" cy="355600"/>
          </a:xfrm>
          <a:prstGeom prst="roundRect">
            <a:avLst>
              <a:gd name="adj" fmla="val 12000"/>
            </a:avLst>
          </a:prstGeom>
          <a:solidFill>
            <a:srgbClr val="FFFFFF"/>
          </a:solidFill>
          <a:ln w="15875">
            <a:solidFill>
              <a:srgbClr val="C06A00"/>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000" b="1">
                <a:solidFill>
                  <a:srgbClr val="222222"/>
                </a:solidFill>
              </a:rPr>
              <a:t>sub-query 2</a:t>
            </a:r>
          </a:p>
        </p:txBody>
      </p:sp>
      <p:sp>
        <p:nvSpPr>
          <p:cNvPr id="13" name="Dgm Sub-query 3"/>
          <p:cNvSpPr/>
          <p:nvPr/>
        </p:nvSpPr>
        <p:spPr>
          <a:xfrm>
            <a:off x="4419600" y="3276600"/>
            <a:ext cx="1168400" cy="355600"/>
          </a:xfrm>
          <a:prstGeom prst="roundRect">
            <a:avLst>
              <a:gd name="adj" fmla="val 12000"/>
            </a:avLst>
          </a:prstGeom>
          <a:solidFill>
            <a:srgbClr val="FFFFFF"/>
          </a:solidFill>
          <a:ln w="15875">
            <a:solidFill>
              <a:srgbClr val="C06A00"/>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000" b="1">
                <a:solidFill>
                  <a:srgbClr val="222222"/>
                </a:solidFill>
              </a:rPr>
              <a:t>sub-query 3</a:t>
            </a:r>
          </a:p>
        </p:txBody>
      </p:sp>
      <p:cxnSp>
        <p:nvCxnSpPr>
          <p:cNvPr id="14" name="Arrow input-controller"/>
          <p:cNvCxnSpPr/>
          <p:nvPr/>
        </p:nvCxnSpPr>
        <p:spPr>
          <a:xfrm>
            <a:off x="2108200" y="2997200"/>
            <a:ext cx="254000" cy="0"/>
          </a:xfrm>
          <a:prstGeom prst="line">
            <a:avLst/>
          </a:prstGeom>
          <a:ln w="22225">
            <a:solidFill>
              <a:srgbClr val="5B3A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Arrow fan-out"/>
          <p:cNvCxnSpPr/>
          <p:nvPr/>
        </p:nvCxnSpPr>
        <p:spPr>
          <a:xfrm flipV="1">
            <a:off x="3937000" y="2540000"/>
            <a:ext cx="482600" cy="457200"/>
          </a:xfrm>
          <a:prstGeom prst="line">
            <a:avLst/>
          </a:prstGeom>
          <a:ln w="19050">
            <a:solidFill>
              <a:srgbClr val="C06A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Arrow fan-in"/>
          <p:cNvCxnSpPr/>
          <p:nvPr/>
        </p:nvCxnSpPr>
        <p:spPr>
          <a:xfrm>
            <a:off x="5588000" y="2540000"/>
            <a:ext cx="482600" cy="457200"/>
          </a:xfrm>
          <a:prstGeom prst="line">
            <a:avLst/>
          </a:prstGeom>
          <a:ln w="19050">
            <a:solidFill>
              <a:srgbClr val="C06A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Arrow fan-out"/>
          <p:cNvCxnSpPr/>
          <p:nvPr/>
        </p:nvCxnSpPr>
        <p:spPr>
          <a:xfrm>
            <a:off x="3937000" y="2997200"/>
            <a:ext cx="482600" cy="0"/>
          </a:xfrm>
          <a:prstGeom prst="line">
            <a:avLst/>
          </a:prstGeom>
          <a:ln w="19050">
            <a:solidFill>
              <a:srgbClr val="C06A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Arrow fan-in"/>
          <p:cNvCxnSpPr/>
          <p:nvPr/>
        </p:nvCxnSpPr>
        <p:spPr>
          <a:xfrm>
            <a:off x="5588000" y="2997200"/>
            <a:ext cx="482600" cy="0"/>
          </a:xfrm>
          <a:prstGeom prst="line">
            <a:avLst/>
          </a:prstGeom>
          <a:ln w="19050">
            <a:solidFill>
              <a:srgbClr val="C06A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Arrow fan-out"/>
          <p:cNvCxnSpPr/>
          <p:nvPr/>
        </p:nvCxnSpPr>
        <p:spPr>
          <a:xfrm>
            <a:off x="3937000" y="2997200"/>
            <a:ext cx="482600" cy="457200"/>
          </a:xfrm>
          <a:prstGeom prst="line">
            <a:avLst/>
          </a:prstGeom>
          <a:ln w="19050">
            <a:solidFill>
              <a:srgbClr val="C06A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Arrow fan-in"/>
          <p:cNvCxnSpPr/>
          <p:nvPr/>
        </p:nvCxnSpPr>
        <p:spPr>
          <a:xfrm flipV="1">
            <a:off x="5588000" y="2997200"/>
            <a:ext cx="482600" cy="457200"/>
          </a:xfrm>
          <a:prstGeom prst="line">
            <a:avLst/>
          </a:prstGeom>
          <a:ln w="19050">
            <a:solidFill>
              <a:srgbClr val="C06A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Arrow retrieval-synthesis"/>
          <p:cNvCxnSpPr/>
          <p:nvPr/>
        </p:nvCxnSpPr>
        <p:spPr>
          <a:xfrm>
            <a:off x="7924800" y="2997200"/>
            <a:ext cx="254000" cy="0"/>
          </a:xfrm>
          <a:prstGeom prst="line">
            <a:avLst/>
          </a:prstGeom>
          <a:ln w="22225">
            <a:solidFill>
              <a:srgbClr val="5B3A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Arrow synthesis-answer"/>
          <p:cNvCxnSpPr/>
          <p:nvPr/>
        </p:nvCxnSpPr>
        <p:spPr>
          <a:xfrm>
            <a:off x="9753600" y="2997200"/>
            <a:ext cx="254000" cy="0"/>
          </a:xfrm>
          <a:prstGeom prst="line">
            <a:avLst/>
          </a:prstGeom>
          <a:ln w="22225">
            <a:solidFill>
              <a:srgbClr val="5B3A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Loop down"/>
          <p:cNvCxnSpPr/>
          <p:nvPr/>
        </p:nvCxnSpPr>
        <p:spPr>
          <a:xfrm>
            <a:off x="10680700" y="3632200"/>
            <a:ext cx="0" cy="381000"/>
          </a:xfrm>
          <a:prstGeom prst="line">
            <a:avLst/>
          </a:prstGeom>
          <a:ln w="22225">
            <a:solidFill>
              <a:srgbClr val="2E7D4F"/>
            </a:solidFill>
            <a:prstDash val="dash"/>
          </a:ln>
        </p:spPr>
        <p:style>
          <a:lnRef idx="2">
            <a:schemeClr val="accent1"/>
          </a:lnRef>
          <a:fillRef idx="0">
            <a:schemeClr val="accent1"/>
          </a:fillRef>
          <a:effectRef idx="1">
            <a:schemeClr val="accent1"/>
          </a:effectRef>
          <a:fontRef idx="minor">
            <a:schemeClr val="tx1"/>
          </a:fontRef>
        </p:style>
      </p:cxnSp>
      <p:cxnSp>
        <p:nvCxnSpPr>
          <p:cNvPr id="24" name="Loop across"/>
          <p:cNvCxnSpPr/>
          <p:nvPr/>
        </p:nvCxnSpPr>
        <p:spPr>
          <a:xfrm flipH="1">
            <a:off x="8966200" y="4013200"/>
            <a:ext cx="1714500" cy="0"/>
          </a:xfrm>
          <a:prstGeom prst="line">
            <a:avLst/>
          </a:prstGeom>
          <a:ln w="22225">
            <a:solidFill>
              <a:srgbClr val="2E7D4F"/>
            </a:solidFill>
            <a:prstDash val="dash"/>
          </a:ln>
        </p:spPr>
        <p:style>
          <a:lnRef idx="2">
            <a:schemeClr val="accent1"/>
          </a:lnRef>
          <a:fillRef idx="0">
            <a:schemeClr val="accent1"/>
          </a:fillRef>
          <a:effectRef idx="1">
            <a:schemeClr val="accent1"/>
          </a:effectRef>
          <a:fontRef idx="minor">
            <a:schemeClr val="tx1"/>
          </a:fontRef>
        </p:style>
      </p:cxnSp>
      <p:cxnSp>
        <p:nvCxnSpPr>
          <p:cNvPr id="25" name="Loop up"/>
          <p:cNvCxnSpPr/>
          <p:nvPr/>
        </p:nvCxnSpPr>
        <p:spPr>
          <a:xfrm flipV="1">
            <a:off x="8966200" y="3657600"/>
            <a:ext cx="0" cy="355600"/>
          </a:xfrm>
          <a:prstGeom prst="line">
            <a:avLst/>
          </a:prstGeom>
          <a:ln w="22225">
            <a:solidFill>
              <a:srgbClr val="2E7D4F"/>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6" name="Dgm Refinement label"/>
          <p:cNvSpPr txBox="1"/>
          <p:nvPr/>
        </p:nvSpPr>
        <p:spPr>
          <a:xfrm>
            <a:off x="5969000" y="4051300"/>
            <a:ext cx="5334000" cy="355600"/>
          </a:xfrm>
          <a:prstGeom prst="rect">
            <a:avLst/>
          </a:prstGeom>
          <a:noFill/>
        </p:spPr>
        <p:txBody>
          <a:bodyPr wrap="square" lIns="25400" tIns="0" rIns="25400" bIns="0">
            <a:spAutoFit/>
          </a:bodyPr>
          <a:lstStyle/>
          <a:p>
            <a:pPr algn="r"/>
            <a:r>
              <a:rPr sz="1000" b="0" i="1">
                <a:solidFill>
                  <a:srgbClr val="2E7D4F"/>
                </a:solidFill>
              </a:rPr>
              <a:t>③ late detail (“actually, it was international”): only the new part is searched → answer v2, parent v1</a:t>
            </a:r>
          </a:p>
        </p:txBody>
      </p:sp>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IN" b="1" dirty="0">
                <a:solidFill>
                  <a:srgbClr val="704EA6"/>
                </a:solidFill>
                <a:latin typeface="+mn-lt"/>
              </a:rPr>
              <a:t>Demo &amp; Product Walkthrough</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a:xfrm>
            <a:off x="838200" y="1443319"/>
            <a:ext cx="10515600" cy="5208492"/>
          </a:xfrm>
        </p:spPr>
        <p:txBody>
          <a:bodyPr>
            <a:normAutofit fontScale="92500" lnSpcReduction="10000"/>
          </a:bodyPr>
          <a:lstStyle/>
          <a:p>
            <a:pPr marL="0" indent="0">
              <a:buNone/>
            </a:pPr>
            <a:r>
              <a:rPr lang="en-US" sz="1800" b="1" dirty="0">
                <a:latin typeface="Times New Roman" panose="02020603050405020304" pitchFamily="18" charset="0"/>
                <a:cs typeface="Times New Roman" panose="02020603050405020304" pitchFamily="18" charset="0"/>
              </a:rPr>
              <a:t>We ran the real pipeline on a GPU and replayed transcript chunks at their real timestamps. Nothing is mocked, and all answers, citations and versions below come from saved runs.</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What to point out in each capture:</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In capture 1, the timestamps prove retrieval began </a:t>
            </a:r>
            <a:r>
              <a:rPr lang="en-US" sz="1600" i="1" dirty="0">
                <a:latin typeface="Times New Roman" panose="02020603050405020304" pitchFamily="18" charset="0"/>
                <a:cs typeface="Times New Roman" panose="02020603050405020304" pitchFamily="18" charset="0"/>
              </a:rPr>
              <a:t>during</a:t>
            </a:r>
            <a:r>
              <a:rPr lang="en-US" sz="1600" dirty="0">
                <a:latin typeface="Times New Roman" panose="02020603050405020304" pitchFamily="18" charset="0"/>
                <a:cs typeface="Times New Roman" panose="02020603050405020304" pitchFamily="18" charset="0"/>
              </a:rPr>
              <a:t> speech, not after.</a:t>
            </a:r>
          </a:p>
          <a:p>
            <a:r>
              <a:rPr lang="en-US" sz="1600" dirty="0">
                <a:latin typeface="Times New Roman" panose="02020603050405020304" pitchFamily="18" charset="0"/>
                <a:cs typeface="Times New Roman" panose="02020603050405020304" pitchFamily="18" charset="0"/>
              </a:rPr>
              <a:t>In capture 2, the version number and parent link prove the answer was refined, not restarted.</a:t>
            </a:r>
          </a:p>
          <a:p>
            <a:r>
              <a:rPr lang="en-US" sz="1600" dirty="0">
                <a:latin typeface="Times New Roman" panose="02020603050405020304" pitchFamily="18" charset="0"/>
                <a:cs typeface="Times New Roman" panose="02020603050405020304" pitchFamily="18" charset="0"/>
              </a:rPr>
              <a:t>In capture 3, the retrieval events sit before the utterance end, which is why the answer is nearly instant.</a:t>
            </a:r>
          </a:p>
          <a:p>
            <a:pPr marL="0" indent="0">
              <a:buNone/>
            </a:pPr>
            <a:r>
              <a:rPr lang="en-US" sz="1600" b="1" dirty="0">
                <a:latin typeface="Times New Roman" panose="02020603050405020304" pitchFamily="18" charset="0"/>
                <a:cs typeface="Times New Roman" panose="02020603050405020304" pitchFamily="18" charset="0"/>
              </a:rPr>
              <a:t>Demo video:</a:t>
            </a:r>
            <a:r>
              <a:rPr lang="en-US" sz="1600" dirty="0">
                <a:latin typeface="Times New Roman" panose="02020603050405020304" pitchFamily="18" charset="0"/>
                <a:cs typeface="Times New Roman" panose="02020603050405020304" pitchFamily="18" charset="0"/>
              </a:rPr>
              <a:t> </a:t>
            </a:r>
            <a:r>
              <a:rPr lang="en-US" sz="1600" i="1" dirty="0">
                <a:latin typeface="Times New Roman" panose="02020603050405020304" pitchFamily="18" charset="0"/>
                <a:cs typeface="Times New Roman" panose="02020603050405020304" pitchFamily="18" charset="0"/>
              </a:rPr>
              <a:t>(https://drive.google.com/drive/folders/1LhGSK8NvrYPaHOn5zm-6vZijQDnDRrjQ?usp=sharing)</a:t>
            </a:r>
            <a:endParaRPr lang="en-US" sz="16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7E7EEA9E-C973-A0B6-0CF8-A6D3B0C14CBD}"/>
              </a:ext>
            </a:extLst>
          </p:cNvPr>
          <p:cNvGraphicFramePr>
            <a:graphicFrameLocks noGrp="1"/>
          </p:cNvGraphicFramePr>
          <p:nvPr>
            <p:extLst>
              <p:ext uri="{D42A27DB-BD31-4B8C-83A1-F6EECF244321}">
                <p14:modId xmlns:p14="http://schemas.microsoft.com/office/powerpoint/2010/main" val="3817144996"/>
              </p:ext>
            </p:extLst>
          </p:nvPr>
        </p:nvGraphicFramePr>
        <p:xfrm>
          <a:off x="1033412" y="2130425"/>
          <a:ext cx="9623151" cy="2376880"/>
        </p:xfrm>
        <a:graphic>
          <a:graphicData uri="http://schemas.openxmlformats.org/drawingml/2006/table">
            <a:tbl>
              <a:tblPr/>
              <a:tblGrid>
                <a:gridCol w="3207717">
                  <a:extLst>
                    <a:ext uri="{9D8B030D-6E8A-4147-A177-3AD203B41FA5}">
                      <a16:colId xmlns:a16="http://schemas.microsoft.com/office/drawing/2014/main" val="2803554357"/>
                    </a:ext>
                  </a:extLst>
                </a:gridCol>
                <a:gridCol w="3207717">
                  <a:extLst>
                    <a:ext uri="{9D8B030D-6E8A-4147-A177-3AD203B41FA5}">
                      <a16:colId xmlns:a16="http://schemas.microsoft.com/office/drawing/2014/main" val="4080047060"/>
                    </a:ext>
                  </a:extLst>
                </a:gridCol>
                <a:gridCol w="3207717">
                  <a:extLst>
                    <a:ext uri="{9D8B030D-6E8A-4147-A177-3AD203B41FA5}">
                      <a16:colId xmlns:a16="http://schemas.microsoft.com/office/drawing/2014/main" val="3739758411"/>
                    </a:ext>
                  </a:extLst>
                </a:gridCol>
              </a:tblGrid>
              <a:tr h="0">
                <a:tc>
                  <a:txBody>
                    <a:bodyPr/>
                    <a:lstStyle/>
                    <a:p>
                      <a:pPr algn="ctr">
                        <a:buNone/>
                      </a:pPr>
                      <a:r>
                        <a:rPr lang="en-IN" sz="1400" b="1" dirty="0">
                          <a:latin typeface="Times New Roman" panose="02020603050405020304" pitchFamily="18" charset="0"/>
                          <a:cs typeface="Times New Roman" panose="02020603050405020304" pitchFamily="18" charset="0"/>
                        </a:rPr>
                        <a:t>Serial Number</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a:latin typeface="Times New Roman" panose="02020603050405020304" pitchFamily="18" charset="0"/>
                          <a:cs typeface="Times New Roman" panose="02020603050405020304" pitchFamily="18" charset="0"/>
                        </a:rPr>
                        <a:t>Capture</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latin typeface="Times New Roman" panose="02020603050405020304" pitchFamily="18" charset="0"/>
                          <a:cs typeface="Times New Roman" panose="02020603050405020304" pitchFamily="18" charset="0"/>
                        </a:rPr>
                        <a:t>What it shows</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4572940"/>
                  </a:ext>
                </a:extLst>
              </a:tr>
              <a:tr h="205096">
                <a:tc>
                  <a:txBody>
                    <a:bodyPr/>
                    <a:lstStyle/>
                    <a:p>
                      <a:pPr>
                        <a:buNone/>
                      </a:pPr>
                      <a:r>
                        <a:rPr lang="en-IN" sz="1200">
                          <a:latin typeface="Times New Roman" panose="02020603050405020304" pitchFamily="18" charset="0"/>
                          <a:cs typeface="Times New Roman" panose="02020603050405020304" pitchFamily="18" charset="0"/>
                        </a:rPr>
                        <a:t>1</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b="1" dirty="0">
                          <a:latin typeface="Times New Roman" panose="02020603050405020304" pitchFamily="18" charset="0"/>
                          <a:cs typeface="Times New Roman" panose="02020603050405020304" pitchFamily="18" charset="0"/>
                        </a:rPr>
                        <a:t>Multi-intent split</a:t>
                      </a:r>
                      <a:r>
                        <a:rPr lang="en-IN" sz="1200" dirty="0">
                          <a:latin typeface="Times New Roman" panose="02020603050405020304" pitchFamily="18" charset="0"/>
                          <a:cs typeface="Times New Roman" panose="02020603050405020304" pitchFamily="18" charset="0"/>
                        </a:rPr>
                        <a:t> (demo1)</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Times New Roman" panose="02020603050405020304" pitchFamily="18" charset="0"/>
                          <a:cs typeface="Times New Roman" panose="02020603050405020304" pitchFamily="18" charset="0"/>
                        </a:rPr>
                        <a:t>Controller waits at 0.0 s, then fires retrieval at </a:t>
                      </a:r>
                      <a:r>
                        <a:rPr lang="en-US" sz="1200" b="1">
                          <a:latin typeface="Times New Roman" panose="02020603050405020304" pitchFamily="18" charset="0"/>
                          <a:cs typeface="Times New Roman" panose="02020603050405020304" pitchFamily="18" charset="0"/>
                        </a:rPr>
                        <a:t>0.8 s</a:t>
                      </a:r>
                      <a:r>
                        <a:rPr lang="en-US" sz="1200">
                          <a:latin typeface="Times New Roman" panose="02020603050405020304" pitchFamily="18" charset="0"/>
                          <a:cs typeface="Times New Roman" panose="02020603050405020304" pitchFamily="18" charset="0"/>
                        </a:rPr>
                        <a:t>, 1.3 s before the user stops. At </a:t>
                      </a:r>
                      <a:r>
                        <a:rPr lang="en-US" sz="1200" b="1">
                          <a:latin typeface="Times New Roman" panose="02020603050405020304" pitchFamily="18" charset="0"/>
                          <a:cs typeface="Times New Roman" panose="02020603050405020304" pitchFamily="18" charset="0"/>
                        </a:rPr>
                        <a:t>1.6 s</a:t>
                      </a:r>
                      <a:r>
                        <a:rPr lang="en-US" sz="1200">
                          <a:latin typeface="Times New Roman" panose="02020603050405020304" pitchFamily="18" charset="0"/>
                          <a:cs typeface="Times New Roman" panose="02020603050405020304" pitchFamily="18" charset="0"/>
                        </a:rPr>
                        <a:t> the rest splits into two parallel sub-queries. Result: 3 sentences, 3 citations.</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2872134"/>
                  </a:ext>
                </a:extLst>
              </a:tr>
              <a:tr h="205096">
                <a:tc>
                  <a:txBody>
                    <a:bodyPr/>
                    <a:lstStyle/>
                    <a:p>
                      <a:pPr>
                        <a:buNone/>
                      </a:pPr>
                      <a:r>
                        <a:rPr lang="en-IN" sz="1200">
                          <a:latin typeface="Times New Roman" panose="02020603050405020304" pitchFamily="18" charset="0"/>
                          <a:cs typeface="Times New Roman" panose="02020603050405020304" pitchFamily="18" charset="0"/>
                        </a:rPr>
                        <a:t>2</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b="1">
                          <a:latin typeface="Times New Roman" panose="02020603050405020304" pitchFamily="18" charset="0"/>
                          <a:cs typeface="Times New Roman" panose="02020603050405020304" pitchFamily="18" charset="0"/>
                        </a:rPr>
                        <a:t>Late detail</a:t>
                      </a:r>
                      <a:r>
                        <a:rPr lang="en-IN" sz="1200">
                          <a:latin typeface="Times New Roman" panose="02020603050405020304" pitchFamily="18" charset="0"/>
                          <a:cs typeface="Times New Roman" panose="02020603050405020304" pitchFamily="18" charset="0"/>
                        </a:rPr>
                        <a:t> (demo2)</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Times New Roman" panose="02020603050405020304" pitchFamily="18" charset="0"/>
                          <a:cs typeface="Times New Roman" panose="02020603050405020304" pitchFamily="18" charset="0"/>
                        </a:rPr>
                        <a:t>"Actually, the trip was international…" turns </a:t>
                      </a:r>
                      <a:r>
                        <a:rPr lang="en-US" sz="1200" b="1">
                          <a:latin typeface="Times New Roman" panose="02020603050405020304" pitchFamily="18" charset="0"/>
                          <a:cs typeface="Times New Roman" panose="02020603050405020304" pitchFamily="18" charset="0"/>
                        </a:rPr>
                        <a:t>v1 into v2</a:t>
                      </a:r>
                      <a:r>
                        <a:rPr lang="en-US" sz="1200">
                          <a:latin typeface="Times New Roman" panose="02020603050405020304" pitchFamily="18" charset="0"/>
                          <a:cs typeface="Times New Roman" panose="02020603050405020304" pitchFamily="18" charset="0"/>
                        </a:rPr>
                        <a:t> (parent_version: 1). Only the new details are searched, and the v1 citation carries forward.</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30022019"/>
                  </a:ext>
                </a:extLst>
              </a:tr>
              <a:tr h="205096">
                <a:tc>
                  <a:txBody>
                    <a:bodyPr/>
                    <a:lstStyle/>
                    <a:p>
                      <a:pPr>
                        <a:buNone/>
                      </a:pPr>
                      <a:r>
                        <a:rPr lang="en-IN" sz="1200">
                          <a:latin typeface="Times New Roman" panose="02020603050405020304" pitchFamily="18" charset="0"/>
                          <a:cs typeface="Times New Roman" panose="02020603050405020304" pitchFamily="18" charset="0"/>
                        </a:rPr>
                        <a:t>3</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b="1">
                          <a:latin typeface="Times New Roman" panose="02020603050405020304" pitchFamily="18" charset="0"/>
                          <a:cs typeface="Times New Roman" panose="02020603050405020304" pitchFamily="18" charset="0"/>
                        </a:rPr>
                        <a:t>Trace / report view</a:t>
                      </a:r>
                      <a:endParaRPr lang="en-IN" sz="1200">
                        <a:latin typeface="Times New Roman" panose="02020603050405020304" pitchFamily="18" charset="0"/>
                        <a:cs typeface="Times New Roman" panose="02020603050405020304" pitchFamily="18" charset="0"/>
                      </a:endParaRP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dirty="0" err="1">
                          <a:latin typeface="Times New Roman" panose="02020603050405020304" pitchFamily="18" charset="0"/>
                          <a:cs typeface="Times New Roman" panose="02020603050405020304" pitchFamily="18" charset="0"/>
                        </a:rPr>
                        <a:t>telemetry.report</a:t>
                      </a:r>
                      <a:r>
                        <a:rPr lang="en-US" sz="1200" dirty="0">
                          <a:latin typeface="Times New Roman" panose="02020603050405020304" pitchFamily="18" charset="0"/>
                          <a:cs typeface="Times New Roman" panose="02020603050405020304" pitchFamily="18" charset="0"/>
                        </a:rPr>
                        <a:t> output: decisions, retrievals, grounding </a:t>
                      </a:r>
                      <a:r>
                        <a:rPr lang="en-US" sz="1200" b="1" dirty="0">
                          <a:latin typeface="Times New Roman" panose="02020603050405020304" pitchFamily="18" charset="0"/>
                          <a:cs typeface="Times New Roman" panose="02020603050405020304" pitchFamily="18" charset="0"/>
                        </a:rPr>
                        <a:t>3/3 supported, 0 fabricated</a:t>
                      </a:r>
                      <a:r>
                        <a:rPr lang="en-US" sz="1200" dirty="0">
                          <a:latin typeface="Times New Roman" panose="02020603050405020304" pitchFamily="18" charset="0"/>
                          <a:cs typeface="Times New Roman" panose="02020603050405020304" pitchFamily="18" charset="0"/>
                        </a:rPr>
                        <a:t>, and the answer emitted about </a:t>
                      </a:r>
                      <a:r>
                        <a:rPr lang="en-US" sz="1200" b="1" dirty="0">
                          <a:latin typeface="Times New Roman" panose="02020603050405020304" pitchFamily="18" charset="0"/>
                          <a:cs typeface="Times New Roman" panose="02020603050405020304" pitchFamily="18" charset="0"/>
                        </a:rPr>
                        <a:t>2.3 </a:t>
                      </a:r>
                      <a:r>
                        <a:rPr lang="en-US" sz="1200" b="1" dirty="0" err="1">
                          <a:latin typeface="Times New Roman" panose="02020603050405020304" pitchFamily="18" charset="0"/>
                          <a:cs typeface="Times New Roman" panose="02020603050405020304" pitchFamily="18" charset="0"/>
                        </a:rPr>
                        <a:t>ms</a:t>
                      </a:r>
                      <a:r>
                        <a:rPr lang="en-US" sz="1200" dirty="0">
                          <a:latin typeface="Times New Roman" panose="02020603050405020304" pitchFamily="18" charset="0"/>
                          <a:cs typeface="Times New Roman" panose="02020603050405020304" pitchFamily="18" charset="0"/>
                        </a:rPr>
                        <a:t> after the user stops.</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0643175"/>
                  </a:ext>
                </a:extLst>
              </a:tr>
            </a:tbl>
          </a:graphicData>
        </a:graphic>
      </p:graphicFrame>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Tools and tech stack used</a:t>
            </a:r>
            <a:endParaRPr lang="en-IN"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a:xfrm>
            <a:off x="838200" y="1434350"/>
            <a:ext cx="10515600" cy="5316070"/>
          </a:xfrm>
        </p:spPr>
        <p:txBody>
          <a:bodyPr>
            <a:normAutofit/>
          </a:bodyPr>
          <a:lstStyle/>
          <a:p>
            <a:pPr marL="0" indent="0">
              <a:buNone/>
            </a:pPr>
            <a:r>
              <a:rPr lang="en-US" sz="1400" dirty="0">
                <a:latin typeface="Times New Roman" panose="02020603050405020304" pitchFamily="18" charset="0"/>
                <a:cs typeface="Times New Roman" panose="02020603050405020304" pitchFamily="18" charset="0"/>
              </a:rPr>
              <a:t>The whole pipeline runs on Python 3.11 with </a:t>
            </a:r>
            <a:r>
              <a:rPr lang="en-US" sz="1400" dirty="0" err="1">
                <a:latin typeface="Times New Roman" panose="02020603050405020304" pitchFamily="18" charset="0"/>
                <a:cs typeface="Times New Roman" panose="02020603050405020304" pitchFamily="18" charset="0"/>
              </a:rPr>
              <a:t>asyncio</a:t>
            </a:r>
            <a:r>
              <a:rPr lang="en-US" sz="1400" dirty="0">
                <a:latin typeface="Times New Roman" panose="02020603050405020304" pitchFamily="18" charset="0"/>
                <a:cs typeface="Times New Roman" panose="02020603050405020304" pitchFamily="18" charset="0"/>
              </a:rPr>
              <a:t>, and every neural model runs through ONNX Runtime on CUDA. Each component is an open, pinned model, so the system runs offline once the models are fetched.</a:t>
            </a: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pPr marL="0" indent="0">
              <a:buNone/>
            </a:pPr>
            <a:r>
              <a:rPr lang="en-US" sz="1400" b="1" dirty="0"/>
              <a:t>Why this stack:</a:t>
            </a:r>
            <a:r>
              <a:rPr lang="en-US" sz="1400" dirty="0"/>
              <a:t> BM25 and dense retrieval catch different kinds of matches, fusion combines them without needing comparable scores, and the cross-encoder settles the final order. The reader feeds the gate a signal for whether a question is answerable at all.</a:t>
            </a:r>
          </a:p>
          <a:p>
            <a:pPr marL="0" indent="0">
              <a:buNone/>
            </a:pPr>
            <a:r>
              <a:rPr lang="en-US" sz="1400" b="1" dirty="0"/>
              <a:t>Engineering and reproducibility:</a:t>
            </a:r>
            <a:endParaRPr lang="en-US" sz="1400" dirty="0"/>
          </a:p>
          <a:p>
            <a:r>
              <a:rPr lang="en-US" sz="1400" dirty="0" err="1"/>
              <a:t>pytest</a:t>
            </a:r>
            <a:r>
              <a:rPr lang="en-US" sz="1400" dirty="0"/>
              <a:t> suite with </a:t>
            </a:r>
            <a:r>
              <a:rPr lang="en-US" sz="1400" b="1" dirty="0"/>
              <a:t>373 tests</a:t>
            </a:r>
            <a:endParaRPr lang="en-US" sz="1400" dirty="0"/>
          </a:p>
          <a:p>
            <a:r>
              <a:rPr lang="en-US" sz="1400" dirty="0"/>
              <a:t>Docker reference image for CPU runs</a:t>
            </a:r>
          </a:p>
          <a:p>
            <a:r>
              <a:rPr lang="en-US" sz="1400" dirty="0"/>
              <a:t>Model revisions pinned and SHA-256 verified at fetch time</a:t>
            </a:r>
          </a:p>
          <a:p>
            <a:pPr marL="0" indent="0">
              <a:buNone/>
            </a:pPr>
            <a:r>
              <a:rPr lang="en-US" sz="1400" b="1" dirty="0"/>
              <a:t>No LLM API is needed on the default path.</a:t>
            </a:r>
            <a:r>
              <a:rPr lang="en-US" sz="1400" dirty="0"/>
              <a:t> Cost is </a:t>
            </a:r>
            <a:r>
              <a:rPr lang="en-US" sz="1400" b="1" dirty="0"/>
              <a:t>$0 per turn</a:t>
            </a:r>
            <a:r>
              <a:rPr lang="en-US" sz="1400" dirty="0"/>
              <a:t>, and nothing touches the network at run time.</a:t>
            </a:r>
          </a:p>
          <a:p>
            <a:endParaRPr lang="en-IN" sz="14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A50AF49C-0A7A-7533-4038-97EC02645370}"/>
              </a:ext>
            </a:extLst>
          </p:cNvPr>
          <p:cNvGraphicFramePr>
            <a:graphicFrameLocks noGrp="1"/>
          </p:cNvGraphicFramePr>
          <p:nvPr>
            <p:extLst>
              <p:ext uri="{D42A27DB-BD31-4B8C-83A1-F6EECF244321}">
                <p14:modId xmlns:p14="http://schemas.microsoft.com/office/powerpoint/2010/main" val="2064424509"/>
              </p:ext>
            </p:extLst>
          </p:nvPr>
        </p:nvGraphicFramePr>
        <p:xfrm>
          <a:off x="838200" y="2235798"/>
          <a:ext cx="10515600" cy="2225040"/>
        </p:xfrm>
        <a:graphic>
          <a:graphicData uri="http://schemas.openxmlformats.org/drawingml/2006/table">
            <a:tbl>
              <a:tblPr/>
              <a:tblGrid>
                <a:gridCol w="5257800">
                  <a:extLst>
                    <a:ext uri="{9D8B030D-6E8A-4147-A177-3AD203B41FA5}">
                      <a16:colId xmlns:a16="http://schemas.microsoft.com/office/drawing/2014/main" val="4240356918"/>
                    </a:ext>
                  </a:extLst>
                </a:gridCol>
                <a:gridCol w="5257800">
                  <a:extLst>
                    <a:ext uri="{9D8B030D-6E8A-4147-A177-3AD203B41FA5}">
                      <a16:colId xmlns:a16="http://schemas.microsoft.com/office/drawing/2014/main" val="2833486991"/>
                    </a:ext>
                  </a:extLst>
                </a:gridCol>
              </a:tblGrid>
              <a:tr h="0">
                <a:tc>
                  <a:txBody>
                    <a:bodyPr/>
                    <a:lstStyle/>
                    <a:p>
                      <a:pPr algn="ctr">
                        <a:buNone/>
                      </a:pPr>
                      <a:r>
                        <a:rPr lang="en-IN" sz="1400" b="1" dirty="0">
                          <a:latin typeface="Times New Roman" panose="02020603050405020304" pitchFamily="18" charset="0"/>
                          <a:cs typeface="Times New Roman" panose="02020603050405020304" pitchFamily="18" charset="0"/>
                        </a:rPr>
                        <a:t>Layer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latin typeface="Times New Roman" panose="02020603050405020304" pitchFamily="18" charset="0"/>
                          <a:cs typeface="Times New Roman" panose="02020603050405020304" pitchFamily="18" charset="0"/>
                        </a:rPr>
                        <a:t>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6026600"/>
                  </a:ext>
                </a:extLst>
              </a:tr>
              <a:tr h="0">
                <a:tc>
                  <a:txBody>
                    <a:bodyPr/>
                    <a:lstStyle/>
                    <a:p>
                      <a:pPr>
                        <a:buNone/>
                      </a:pPr>
                      <a:r>
                        <a:rPr lang="en-IN" sz="1200" b="1">
                          <a:latin typeface="Times New Roman" panose="02020603050405020304" pitchFamily="18" charset="0"/>
                          <a:cs typeface="Times New Roman" panose="02020603050405020304" pitchFamily="18" charset="0"/>
                        </a:rPr>
                        <a:t>Sparse retrieval</a:t>
                      </a:r>
                      <a:endParaRPr lang="en-IN"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BM25 (pure Python)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386249"/>
                  </a:ext>
                </a:extLst>
              </a:tr>
              <a:tr h="0">
                <a:tc>
                  <a:txBody>
                    <a:bodyPr/>
                    <a:lstStyle/>
                    <a:p>
                      <a:pPr>
                        <a:buNone/>
                      </a:pPr>
                      <a:r>
                        <a:rPr lang="en-IN" sz="1200" b="1" dirty="0">
                          <a:latin typeface="Times New Roman" panose="02020603050405020304" pitchFamily="18" charset="0"/>
                          <a:cs typeface="Times New Roman" panose="02020603050405020304" pitchFamily="18" charset="0"/>
                        </a:rPr>
                        <a:t>Dense retrieval</a:t>
                      </a:r>
                      <a:endParaRPr lang="en-IN" sz="12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e5-small-v2 (ONNX)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9541027"/>
                  </a:ext>
                </a:extLst>
              </a:tr>
              <a:tr h="0">
                <a:tc>
                  <a:txBody>
                    <a:bodyPr/>
                    <a:lstStyle/>
                    <a:p>
                      <a:pPr>
                        <a:buNone/>
                      </a:pPr>
                      <a:r>
                        <a:rPr lang="en-IN" sz="1200" b="1">
                          <a:latin typeface="Times New Roman" panose="02020603050405020304" pitchFamily="18" charset="0"/>
                          <a:cs typeface="Times New Roman" panose="02020603050405020304" pitchFamily="18" charset="0"/>
                        </a:rPr>
                        <a:t>Fusion</a:t>
                      </a:r>
                      <a:endParaRPr lang="en-IN"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Reciprocal-rank fusion (k = 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7498825"/>
                  </a:ext>
                </a:extLst>
              </a:tr>
              <a:tr h="0">
                <a:tc>
                  <a:txBody>
                    <a:bodyPr/>
                    <a:lstStyle/>
                    <a:p>
                      <a:pPr>
                        <a:buNone/>
                      </a:pPr>
                      <a:r>
                        <a:rPr lang="en-IN" sz="1200" b="1">
                          <a:latin typeface="Times New Roman" panose="02020603050405020304" pitchFamily="18" charset="0"/>
                          <a:cs typeface="Times New Roman" panose="02020603050405020304" pitchFamily="18" charset="0"/>
                        </a:rPr>
                        <a:t>Reranking</a:t>
                      </a:r>
                      <a:endParaRPr lang="en-IN"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Times New Roman" panose="02020603050405020304" pitchFamily="18" charset="0"/>
                          <a:cs typeface="Times New Roman" panose="02020603050405020304" pitchFamily="18" charset="0"/>
                        </a:rPr>
                        <a:t>MS-MARCO MiniLM cross-encoder over the top 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9758815"/>
                  </a:ext>
                </a:extLst>
              </a:tr>
              <a:tr h="0">
                <a:tc>
                  <a:txBody>
                    <a:bodyPr/>
                    <a:lstStyle/>
                    <a:p>
                      <a:pPr>
                        <a:buNone/>
                      </a:pPr>
                      <a:r>
                        <a:rPr lang="en-IN" sz="1200" b="1">
                          <a:latin typeface="Times New Roman" panose="02020603050405020304" pitchFamily="18" charset="0"/>
                          <a:cs typeface="Times New Roman" panose="02020603050405020304" pitchFamily="18" charset="0"/>
                        </a:rPr>
                        <a:t>Refusal gate</a:t>
                      </a:r>
                      <a:endParaRPr lang="en-IN"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Times New Roman" panose="02020603050405020304" pitchFamily="18" charset="0"/>
                          <a:cs typeface="Times New Roman" panose="02020603050405020304" pitchFamily="18" charset="0"/>
                        </a:rPr>
                        <a:t>SQuAD2 MiniLM reader + learned logistic 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2162745"/>
                  </a:ext>
                </a:extLst>
              </a:tr>
              <a:tr h="0">
                <a:tc>
                  <a:txBody>
                    <a:bodyPr/>
                    <a:lstStyle/>
                    <a:p>
                      <a:pPr>
                        <a:buNone/>
                      </a:pPr>
                      <a:r>
                        <a:rPr lang="en-IN" sz="1200" b="1">
                          <a:latin typeface="Times New Roman" panose="02020603050405020304" pitchFamily="18" charset="0"/>
                          <a:cs typeface="Times New Roman" panose="02020603050405020304" pitchFamily="18" charset="0"/>
                        </a:rPr>
                        <a:t>Text processing</a:t>
                      </a:r>
                      <a:endParaRPr lang="en-IN"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spaCy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7477167"/>
                  </a:ext>
                </a:extLst>
              </a:tr>
              <a:tr h="0">
                <a:tc>
                  <a:txBody>
                    <a:bodyPr/>
                    <a:lstStyle/>
                    <a:p>
                      <a:pPr>
                        <a:buNone/>
                      </a:pPr>
                      <a:r>
                        <a:rPr lang="en-IN" sz="1200" b="1">
                          <a:latin typeface="Times New Roman" panose="02020603050405020304" pitchFamily="18" charset="0"/>
                          <a:cs typeface="Times New Roman" panose="02020603050405020304" pitchFamily="18" charset="0"/>
                        </a:rPr>
                        <a:t>Audio (optional)</a:t>
                      </a:r>
                      <a:endParaRPr lang="en-IN"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latin typeface="Times New Roman" panose="02020603050405020304" pitchFamily="18" charset="0"/>
                          <a:cs typeface="Times New Roman" panose="02020603050405020304" pitchFamily="18" charset="0"/>
                        </a:rPr>
                        <a:t>Whisper via faster-whisper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1660571"/>
                  </a:ext>
                </a:extLst>
              </a:tr>
            </a:tbl>
          </a:graphicData>
        </a:graphic>
      </p:graphicFrame>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Impact &amp; Use case</a:t>
            </a:r>
            <a:endParaRPr lang="en-IN"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a:xfrm>
            <a:off x="838200" y="1559860"/>
            <a:ext cx="10515600" cy="5065058"/>
          </a:xfrm>
        </p:spPr>
        <p:txBody>
          <a:bodyPr>
            <a:normAutofit/>
          </a:bodyPr>
          <a:lstStyle/>
          <a:p>
            <a:pPr marL="0" indent="0">
              <a:buNone/>
            </a:pPr>
            <a:r>
              <a:rPr lang="en-US" sz="1400" b="1" dirty="0">
                <a:latin typeface="Times New Roman" panose="02020603050405020304" pitchFamily="18" charset="0"/>
                <a:cs typeface="Times New Roman" panose="02020603050405020304" pitchFamily="18" charset="0"/>
              </a:rPr>
              <a:t>Answers are ready almost the moment the user stops speaking, because the searching already happened while they talked</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b="1" dirty="0"/>
          </a:p>
          <a:p>
            <a:pPr marL="0" indent="0">
              <a:buNone/>
            </a:pPr>
            <a:endParaRPr lang="en-US" sz="1400" b="1" dirty="0"/>
          </a:p>
          <a:p>
            <a:pPr marL="0" indent="0">
              <a:buNone/>
            </a:pPr>
            <a:r>
              <a:rPr lang="en-US" sz="1400" b="1" dirty="0"/>
              <a:t>The measured result:</a:t>
            </a:r>
            <a:r>
              <a:rPr lang="en-US" sz="1400" dirty="0"/>
              <a:t> the answer is ready about </a:t>
            </a:r>
            <a:r>
              <a:rPr lang="en-US" sz="1400" b="1" dirty="0"/>
              <a:t>2.4 </a:t>
            </a:r>
            <a:r>
              <a:rPr lang="en-US" sz="1400" b="1" dirty="0" err="1"/>
              <a:t>ms</a:t>
            </a:r>
            <a:r>
              <a:rPr lang="en-US" sz="1400" dirty="0"/>
              <a:t> after the user stops, against about </a:t>
            </a:r>
            <a:r>
              <a:rPr lang="en-US" sz="1400" b="1" dirty="0"/>
              <a:t>110 </a:t>
            </a:r>
            <a:r>
              <a:rPr lang="en-US" sz="1400" b="1" dirty="0" err="1"/>
              <a:t>ms</a:t>
            </a:r>
            <a:r>
              <a:rPr lang="en-US" sz="1400" dirty="0"/>
              <a:t> when retrieval waits until speech ends. That is </a:t>
            </a:r>
            <a:r>
              <a:rPr lang="en-US" sz="1400" b="1" dirty="0"/>
              <a:t>46× faster</a:t>
            </a:r>
            <a:r>
              <a:rPr lang="en-US" sz="1400" dirty="0"/>
              <a:t> on 75 paired turns.</a:t>
            </a:r>
          </a:p>
          <a:p>
            <a:pPr marL="0" indent="0">
              <a:buNone/>
            </a:pPr>
            <a:r>
              <a:rPr lang="en-US" sz="1400" b="1" dirty="0"/>
              <a:t>Speed without a trade-off:</a:t>
            </a:r>
            <a:r>
              <a:rPr lang="en-US" sz="1400" dirty="0"/>
              <a:t> streaming answers are identical to running the same pipeline after speech ends, and answer recall is </a:t>
            </a:r>
            <a:r>
              <a:rPr lang="en-US" sz="1400" b="1" dirty="0"/>
              <a:t>+19.4 points</a:t>
            </a:r>
            <a:r>
              <a:rPr lang="en-US" sz="1400" dirty="0"/>
              <a:t> higher than the wait-then-search baseline. The gain comes from doing the work earlier and splitting compound requests properly, not from cutting corners.</a:t>
            </a:r>
          </a:p>
          <a:p>
            <a:pPr marL="0" indent="0">
              <a:buNone/>
            </a:pPr>
            <a:r>
              <a:rPr lang="en-US" sz="1400" b="1" dirty="0"/>
              <a:t>Why it matters in practice:</a:t>
            </a:r>
            <a:r>
              <a:rPr lang="en-US" sz="1400" dirty="0"/>
              <a:t> a wrong but fast answer is worse than a slow one in support or enterprise settings. Because every claim is cited and weak evidence is refused, the speed gain doesn't cost trust.</a:t>
            </a:r>
          </a:p>
          <a:p>
            <a:pPr marL="0" indent="0">
              <a:buNone/>
            </a:pPr>
            <a:r>
              <a:rPr lang="en-US" sz="1400" dirty="0">
                <a:latin typeface="Times New Roman" panose="02020603050405020304" pitchFamily="18" charset="0"/>
                <a:cs typeface="Times New Roman" panose="02020603050405020304" pitchFamily="18" charset="0"/>
              </a:rPr>
              <a:t>.</a:t>
            </a:r>
          </a:p>
          <a:p>
            <a:endParaRPr lang="en-IN"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CDD3E68A-3B03-7F47-35BB-49D2B2A63B1E}"/>
              </a:ext>
            </a:extLst>
          </p:cNvPr>
          <p:cNvGraphicFramePr>
            <a:graphicFrameLocks noGrp="1"/>
          </p:cNvGraphicFramePr>
          <p:nvPr>
            <p:extLst>
              <p:ext uri="{D42A27DB-BD31-4B8C-83A1-F6EECF244321}">
                <p14:modId xmlns:p14="http://schemas.microsoft.com/office/powerpoint/2010/main" val="1897955436"/>
              </p:ext>
            </p:extLst>
          </p:nvPr>
        </p:nvGraphicFramePr>
        <p:xfrm>
          <a:off x="838200" y="2172494"/>
          <a:ext cx="10515600" cy="1859280"/>
        </p:xfrm>
        <a:graphic>
          <a:graphicData uri="http://schemas.openxmlformats.org/drawingml/2006/table">
            <a:tbl>
              <a:tblPr/>
              <a:tblGrid>
                <a:gridCol w="3505200">
                  <a:extLst>
                    <a:ext uri="{9D8B030D-6E8A-4147-A177-3AD203B41FA5}">
                      <a16:colId xmlns:a16="http://schemas.microsoft.com/office/drawing/2014/main" val="3108664287"/>
                    </a:ext>
                  </a:extLst>
                </a:gridCol>
                <a:gridCol w="3505200">
                  <a:extLst>
                    <a:ext uri="{9D8B030D-6E8A-4147-A177-3AD203B41FA5}">
                      <a16:colId xmlns:a16="http://schemas.microsoft.com/office/drawing/2014/main" val="1823487053"/>
                    </a:ext>
                  </a:extLst>
                </a:gridCol>
                <a:gridCol w="3505200">
                  <a:extLst>
                    <a:ext uri="{9D8B030D-6E8A-4147-A177-3AD203B41FA5}">
                      <a16:colId xmlns:a16="http://schemas.microsoft.com/office/drawing/2014/main" val="1914782451"/>
                    </a:ext>
                  </a:extLst>
                </a:gridCol>
              </a:tblGrid>
              <a:tr h="0">
                <a:tc>
                  <a:txBody>
                    <a:bodyPr/>
                    <a:lstStyle/>
                    <a:p>
                      <a:pPr algn="ctr">
                        <a:buNone/>
                      </a:pPr>
                      <a:r>
                        <a:rPr lang="en-IN" sz="1400" b="1" dirty="0">
                          <a:latin typeface="Times New Roman" panose="02020603050405020304" pitchFamily="18" charset="0"/>
                          <a:cs typeface="Times New Roman" panose="02020603050405020304" pitchFamily="18" charset="0"/>
                        </a:rPr>
                        <a:t>Use case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a:latin typeface="Times New Roman" panose="02020603050405020304" pitchFamily="18" charset="0"/>
                          <a:cs typeface="Times New Roman" panose="02020603050405020304" pitchFamily="18" charset="0"/>
                        </a:rPr>
                        <a:t>Who benefits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latin typeface="Times New Roman" panose="02020603050405020304" pitchFamily="18" charset="0"/>
                          <a:cs typeface="Times New Roman" panose="02020603050405020304" pitchFamily="18" charset="0"/>
                        </a:rPr>
                        <a:t>How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8914349"/>
                  </a:ext>
                </a:extLst>
              </a:tr>
              <a:tr h="0">
                <a:tc>
                  <a:txBody>
                    <a:bodyPr/>
                    <a:lstStyle/>
                    <a:p>
                      <a:pPr>
                        <a:buNone/>
                      </a:pPr>
                      <a:r>
                        <a:rPr lang="en-IN" sz="1200" b="1">
                          <a:latin typeface="Times New Roman" panose="02020603050405020304" pitchFamily="18" charset="0"/>
                          <a:cs typeface="Times New Roman" panose="02020603050405020304" pitchFamily="18" charset="0"/>
                        </a:rPr>
                        <a:t>Voice assistants</a:t>
                      </a:r>
                      <a:endParaRPr lang="en-IN"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latin typeface="Times New Roman" panose="02020603050405020304" pitchFamily="18" charset="0"/>
                          <a:cs typeface="Times New Roman" panose="02020603050405020304" pitchFamily="18" charset="0"/>
                        </a:rPr>
                        <a:t>Everyday users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Times New Roman" panose="02020603050405020304" pitchFamily="18" charset="0"/>
                          <a:cs typeface="Times New Roman" panose="02020603050405020304" pitchFamily="18" charset="0"/>
                        </a:rPr>
                        <a:t>No dead pause after they finish speaking, and compound requests are answered in full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841196"/>
                  </a:ext>
                </a:extLst>
              </a:tr>
              <a:tr h="0">
                <a:tc>
                  <a:txBody>
                    <a:bodyPr/>
                    <a:lstStyle/>
                    <a:p>
                      <a:pPr>
                        <a:buNone/>
                      </a:pPr>
                      <a:r>
                        <a:rPr lang="en-IN" sz="1200" b="1">
                          <a:latin typeface="Times New Roman" panose="02020603050405020304" pitchFamily="18" charset="0"/>
                          <a:cs typeface="Times New Roman" panose="02020603050405020304" pitchFamily="18" charset="0"/>
                        </a:rPr>
                        <a:t>Live customer support</a:t>
                      </a:r>
                      <a:endParaRPr lang="en-IN"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Agents and customers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Times New Roman" panose="02020603050405020304" pitchFamily="18" charset="0"/>
                          <a:cs typeface="Times New Roman" panose="02020603050405020304" pitchFamily="18" charset="0"/>
                        </a:rPr>
                        <a:t>Cited policy answers appear while the customer is still talking, and a changed detail updates the answer without a restart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05548100"/>
                  </a:ext>
                </a:extLst>
              </a:tr>
              <a:tr h="0">
                <a:tc>
                  <a:txBody>
                    <a:bodyPr/>
                    <a:lstStyle/>
                    <a:p>
                      <a:pPr>
                        <a:buNone/>
                      </a:pPr>
                      <a:r>
                        <a:rPr lang="en-US" sz="1200" b="1">
                          <a:latin typeface="Times New Roman" panose="02020603050405020304" pitchFamily="18" charset="0"/>
                          <a:cs typeface="Times New Roman" panose="02020603050405020304" pitchFamily="18" charset="0"/>
                        </a:rPr>
                        <a:t>Spoken search in enterprise tools</a:t>
                      </a:r>
                      <a:endParaRPr lang="en-US"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Employees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dirty="0">
                          <a:latin typeface="Times New Roman" panose="02020603050405020304" pitchFamily="18" charset="0"/>
                          <a:cs typeface="Times New Roman" panose="02020603050405020304" pitchFamily="18" charset="0"/>
                        </a:rPr>
                        <a:t>Answers can be checked against the source document, and the system says so when the corpus has no answer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7052851"/>
                  </a:ext>
                </a:extLst>
              </a:tr>
            </a:tbl>
          </a:graphicData>
        </a:graphic>
      </p:graphicFrame>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Innovation highlights, results and limitations</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a:xfrm>
            <a:off x="838200" y="1407459"/>
            <a:ext cx="10515600" cy="5450541"/>
          </a:xfrm>
        </p:spPr>
        <p:txBody>
          <a:bodyPr>
            <a:normAutofit/>
          </a:bodyPr>
          <a:lstStyle/>
          <a:p>
            <a:pPr marL="0" indent="0">
              <a:buNone/>
            </a:pPr>
            <a:r>
              <a:rPr lang="en-US" sz="1600" b="1" dirty="0">
                <a:latin typeface="Times New Roman" panose="02020603050405020304" pitchFamily="18" charset="0"/>
                <a:cs typeface="Times New Roman" panose="02020603050405020304" pitchFamily="18" charset="0"/>
              </a:rPr>
              <a:t>Innovations</a:t>
            </a:r>
            <a:endParaRPr lang="en-US" sz="16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Stability-based trigger:</a:t>
            </a:r>
            <a:r>
              <a:rPr lang="en-US" sz="1400" dirty="0">
                <a:latin typeface="Times New Roman" panose="02020603050405020304" pitchFamily="18" charset="0"/>
                <a:cs typeface="Times New Roman" panose="02020603050405020304" pitchFamily="18" charset="0"/>
              </a:rPr>
              <a:t> decides when to retrieve from sentence structure, with no keyword lists, so it carries over to a new corpus.</a:t>
            </a:r>
          </a:p>
          <a:p>
            <a:r>
              <a:rPr lang="en-US" sz="1400" b="1" dirty="0">
                <a:latin typeface="Times New Roman" panose="02020603050405020304" pitchFamily="18" charset="0"/>
                <a:cs typeface="Times New Roman" panose="02020603050405020304" pitchFamily="18" charset="0"/>
              </a:rPr>
              <a:t>Parallel decomposition:</a:t>
            </a:r>
            <a:r>
              <a:rPr lang="en-US" sz="1400" dirty="0">
                <a:latin typeface="Times New Roman" panose="02020603050405020304" pitchFamily="18" charset="0"/>
                <a:cs typeface="Times New Roman" panose="02020603050405020304" pitchFamily="18" charset="0"/>
              </a:rPr>
              <a:t> compound requests split into sub-queries without over-fragmenting.</a:t>
            </a:r>
          </a:p>
          <a:p>
            <a:r>
              <a:rPr lang="en-US" sz="1400" b="1" dirty="0">
                <a:latin typeface="Times New Roman" panose="02020603050405020304" pitchFamily="18" charset="0"/>
                <a:cs typeface="Times New Roman" panose="02020603050405020304" pitchFamily="18" charset="0"/>
              </a:rPr>
              <a:t>Versioned refinement:</a:t>
            </a:r>
            <a:r>
              <a:rPr lang="en-US" sz="1400" dirty="0">
                <a:latin typeface="Times New Roman" panose="02020603050405020304" pitchFamily="18" charset="0"/>
                <a:cs typeface="Times New Roman" panose="02020603050405020304" pitchFamily="18" charset="0"/>
              </a:rPr>
              <a:t> a late detail patches the answer in place, with the parent version and citations kept.</a:t>
            </a:r>
          </a:p>
          <a:p>
            <a:r>
              <a:rPr lang="en-US" sz="1400" b="1" dirty="0">
                <a:latin typeface="Times New Roman" panose="02020603050405020304" pitchFamily="18" charset="0"/>
                <a:cs typeface="Times New Roman" panose="02020603050405020304" pitchFamily="18" charset="0"/>
              </a:rPr>
              <a:t>Learned refusal gate:</a:t>
            </a:r>
            <a:r>
              <a:rPr lang="en-US" sz="1400" dirty="0">
                <a:latin typeface="Times New Roman" panose="02020603050405020304" pitchFamily="18" charset="0"/>
                <a:cs typeface="Times New Roman" panose="02020603050405020304" pitchFamily="18" charset="0"/>
              </a:rPr>
              <a:t> declines to answer when the evidence is weak, instead of guessing.</a:t>
            </a:r>
          </a:p>
          <a:p>
            <a:pPr marL="0" indent="0">
              <a:buNone/>
            </a:pPr>
            <a:r>
              <a:rPr lang="en-US" sz="1400" b="1" dirty="0">
                <a:latin typeface="Times New Roman" panose="02020603050405020304" pitchFamily="18" charset="0"/>
                <a:cs typeface="Times New Roman" panose="02020603050405020304" pitchFamily="18" charset="0"/>
              </a:rPr>
              <a:t> Results</a:t>
            </a:r>
            <a:r>
              <a:rPr lang="en-US" sz="1400" dirty="0">
                <a:latin typeface="Times New Roman" panose="02020603050405020304" pitchFamily="18" charset="0"/>
                <a:cs typeface="Times New Roman" panose="02020603050405020304" pitchFamily="18" charset="0"/>
              </a:rPr>
              <a:t> (text input, GPU, real-time replay)</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r>
              <a:rPr lang="en-US" sz="1400" b="1" dirty="0"/>
              <a:t>Limitations, stated plainly</a:t>
            </a:r>
            <a:endParaRPr lang="en-US" sz="1400" dirty="0"/>
          </a:p>
          <a:p>
            <a:r>
              <a:rPr lang="en-US" sz="1400" b="1" dirty="0"/>
              <a:t>Recall has a ceiling:</a:t>
            </a:r>
            <a:r>
              <a:rPr lang="en-US" sz="1400" dirty="0"/>
              <a:t> the gate sometimes withholds a correct claim, and sentence selection sometimes picks a distractor.</a:t>
            </a:r>
          </a:p>
          <a:p>
            <a:r>
              <a:rPr lang="en-US" sz="1400" b="1" dirty="0"/>
              <a:t>Audio is weaker than text:</a:t>
            </a:r>
            <a:r>
              <a:rPr lang="en-US" sz="1400" dirty="0"/>
              <a:t> real speech transcripts lower answer recall to 56% on the sealed set, and audio does not meet the 5 </a:t>
            </a:r>
            <a:r>
              <a:rPr lang="en-US" sz="1400" dirty="0" err="1"/>
              <a:t>ms</a:t>
            </a:r>
            <a:r>
              <a:rPr lang="en-US" sz="1400" dirty="0"/>
              <a:t> target.</a:t>
            </a:r>
          </a:p>
          <a:p>
            <a:r>
              <a:rPr lang="en-US" sz="1400" b="1" dirty="0"/>
              <a:t>Docker gate G1 was not run.</a:t>
            </a:r>
            <a:r>
              <a:rPr lang="en-US" sz="1400" dirty="0"/>
              <a:t> A clean-machine CLI run passed as a substitute.</a:t>
            </a:r>
          </a:p>
          <a:p>
            <a:r>
              <a:rPr lang="en-US" sz="1400" b="1" dirty="0"/>
              <a:t>The gate is tuned for a mix of answerable and unanswerable questions,</a:t>
            </a:r>
            <a:r>
              <a:rPr lang="en-US" sz="1400" dirty="0"/>
              <a:t> so it costs some recall when few questions are unanswerable.</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C3CED36A-CB48-C346-19CA-6B4BBF07387C}"/>
              </a:ext>
            </a:extLst>
          </p:cNvPr>
          <p:cNvGraphicFramePr>
            <a:graphicFrameLocks noGrp="1"/>
          </p:cNvGraphicFramePr>
          <p:nvPr>
            <p:extLst>
              <p:ext uri="{D42A27DB-BD31-4B8C-83A1-F6EECF244321}">
                <p14:modId xmlns:p14="http://schemas.microsoft.com/office/powerpoint/2010/main" val="4191685075"/>
              </p:ext>
            </p:extLst>
          </p:nvPr>
        </p:nvGraphicFramePr>
        <p:xfrm>
          <a:off x="959222" y="3431689"/>
          <a:ext cx="10049438" cy="1402080"/>
        </p:xfrm>
        <a:graphic>
          <a:graphicData uri="http://schemas.openxmlformats.org/drawingml/2006/table">
            <a:tbl>
              <a:tblPr/>
              <a:tblGrid>
                <a:gridCol w="5024719">
                  <a:extLst>
                    <a:ext uri="{9D8B030D-6E8A-4147-A177-3AD203B41FA5}">
                      <a16:colId xmlns:a16="http://schemas.microsoft.com/office/drawing/2014/main" val="3172705001"/>
                    </a:ext>
                  </a:extLst>
                </a:gridCol>
                <a:gridCol w="5024719">
                  <a:extLst>
                    <a:ext uri="{9D8B030D-6E8A-4147-A177-3AD203B41FA5}">
                      <a16:colId xmlns:a16="http://schemas.microsoft.com/office/drawing/2014/main" val="2454314413"/>
                    </a:ext>
                  </a:extLst>
                </a:gridCol>
              </a:tblGrid>
              <a:tr h="0">
                <a:tc>
                  <a:txBody>
                    <a:bodyPr/>
                    <a:lstStyle/>
                    <a:p>
                      <a:pPr algn="ctr">
                        <a:buNone/>
                      </a:pPr>
                      <a:r>
                        <a:rPr lang="en-IN" sz="1400" b="1" dirty="0">
                          <a:latin typeface="Times New Roman" panose="02020603050405020304" pitchFamily="18" charset="0"/>
                          <a:cs typeface="Times New Roman" panose="02020603050405020304" pitchFamily="18" charset="0"/>
                        </a:rPr>
                        <a:t>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latin typeface="Times New Roman" panose="02020603050405020304" pitchFamily="18" charset="0"/>
                          <a:cs typeface="Times New Roman" panose="02020603050405020304" pitchFamily="18" charset="0"/>
                        </a:rPr>
                        <a:t>Result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9911868"/>
                  </a:ext>
                </a:extLst>
              </a:tr>
              <a:tr h="0">
                <a:tc>
                  <a:txBody>
                    <a:bodyPr/>
                    <a:lstStyle/>
                    <a:p>
                      <a:pPr>
                        <a:buNone/>
                      </a:pPr>
                      <a:r>
                        <a:rPr lang="en-IN" sz="1200" b="1" dirty="0">
                          <a:latin typeface="Times New Roman" panose="02020603050405020304" pitchFamily="18" charset="0"/>
                          <a:cs typeface="Times New Roman" panose="02020603050405020304" pitchFamily="18" charset="0"/>
                        </a:rPr>
                        <a:t>Gates G2-G6</a:t>
                      </a:r>
                      <a:endParaRPr lang="en-IN" sz="12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dirty="0">
                          <a:latin typeface="Times New Roman" panose="02020603050405020304" pitchFamily="18" charset="0"/>
                          <a:cs typeface="Times New Roman" panose="02020603050405020304" pitchFamily="18" charset="0"/>
                        </a:rPr>
                        <a:t>100%</a:t>
                      </a:r>
                      <a:r>
                        <a:rPr lang="en-US" sz="1200" dirty="0">
                          <a:latin typeface="Times New Roman" panose="02020603050405020304" pitchFamily="18" charset="0"/>
                          <a:cs typeface="Times New Roman" panose="02020603050405020304" pitchFamily="18" charset="0"/>
                        </a:rPr>
                        <a:t>, with </a:t>
                      </a:r>
                      <a:r>
                        <a:rPr lang="en-US" sz="1200" b="1" dirty="0">
                          <a:latin typeface="Times New Roman" panose="02020603050405020304" pitchFamily="18" charset="0"/>
                          <a:cs typeface="Times New Roman" panose="02020603050405020304" pitchFamily="18" charset="0"/>
                        </a:rPr>
                        <a:t>0 fabricated citations</a:t>
                      </a:r>
                      <a:endParaRPr lang="en-US" sz="12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4284269"/>
                  </a:ext>
                </a:extLst>
              </a:tr>
              <a:tr h="0">
                <a:tc>
                  <a:txBody>
                    <a:bodyPr/>
                    <a:lstStyle/>
                    <a:p>
                      <a:pPr>
                        <a:buNone/>
                      </a:pPr>
                      <a:r>
                        <a:rPr lang="en-IN" sz="1200" b="1">
                          <a:latin typeface="Times New Roman" panose="02020603050405020304" pitchFamily="18" charset="0"/>
                          <a:cs typeface="Times New Roman" panose="02020603050405020304" pitchFamily="18" charset="0"/>
                        </a:rPr>
                        <a:t>Answer recall</a:t>
                      </a:r>
                      <a:endParaRPr lang="en-IN"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b="1">
                          <a:latin typeface="Times New Roman" panose="02020603050405020304" pitchFamily="18" charset="0"/>
                          <a:cs typeface="Times New Roman" panose="02020603050405020304" pitchFamily="18" charset="0"/>
                        </a:rPr>
                        <a:t>66.7%</a:t>
                      </a:r>
                      <a:r>
                        <a:rPr lang="en-IN" sz="1200">
                          <a:latin typeface="Times New Roman" panose="02020603050405020304" pitchFamily="18" charset="0"/>
                          <a:cs typeface="Times New Roman" panose="02020603050405020304" pitchFamily="18" charset="0"/>
                        </a:rPr>
                        <a:t> dev, </a:t>
                      </a:r>
                      <a:r>
                        <a:rPr lang="en-IN" sz="1200" b="1">
                          <a:latin typeface="Times New Roman" panose="02020603050405020304" pitchFamily="18" charset="0"/>
                          <a:cs typeface="Times New Roman" panose="02020603050405020304" pitchFamily="18" charset="0"/>
                        </a:rPr>
                        <a:t>78.6%</a:t>
                      </a:r>
                      <a:r>
                        <a:rPr lang="en-IN" sz="1200">
                          <a:latin typeface="Times New Roman" panose="02020603050405020304" pitchFamily="18" charset="0"/>
                          <a:cs typeface="Times New Roman" panose="02020603050405020304" pitchFamily="18" charset="0"/>
                        </a:rPr>
                        <a:t> held-out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21962"/>
                  </a:ext>
                </a:extLst>
              </a:tr>
              <a:tr h="0">
                <a:tc>
                  <a:txBody>
                    <a:bodyPr/>
                    <a:lstStyle/>
                    <a:p>
                      <a:pPr>
                        <a:buNone/>
                      </a:pPr>
                      <a:r>
                        <a:rPr lang="en-IN" sz="1200" b="1">
                          <a:latin typeface="Times New Roman" panose="02020603050405020304" pitchFamily="18" charset="0"/>
                          <a:cs typeface="Times New Roman" panose="02020603050405020304" pitchFamily="18" charset="0"/>
                        </a:rPr>
                        <a:t>Claim precision</a:t>
                      </a:r>
                      <a:endParaRPr lang="en-IN"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b="1">
                          <a:latin typeface="Times New Roman" panose="02020603050405020304" pitchFamily="18" charset="0"/>
                          <a:cs typeface="Times New Roman" panose="02020603050405020304" pitchFamily="18" charset="0"/>
                        </a:rPr>
                        <a:t>87.4%</a:t>
                      </a:r>
                      <a:r>
                        <a:rPr lang="en-IN" sz="1200">
                          <a:latin typeface="Times New Roman" panose="02020603050405020304" pitchFamily="18" charset="0"/>
                          <a:cs typeface="Times New Roman" panose="02020603050405020304" pitchFamily="18" charset="0"/>
                        </a:rPr>
                        <a:t> dev, </a:t>
                      </a:r>
                      <a:r>
                        <a:rPr lang="en-IN" sz="1200" b="1">
                          <a:latin typeface="Times New Roman" panose="02020603050405020304" pitchFamily="18" charset="0"/>
                          <a:cs typeface="Times New Roman" panose="02020603050405020304" pitchFamily="18" charset="0"/>
                        </a:rPr>
                        <a:t>94.3%</a:t>
                      </a:r>
                      <a:r>
                        <a:rPr lang="en-IN" sz="1200">
                          <a:latin typeface="Times New Roman" panose="02020603050405020304" pitchFamily="18" charset="0"/>
                          <a:cs typeface="Times New Roman" panose="02020603050405020304" pitchFamily="18" charset="0"/>
                        </a:rPr>
                        <a:t> held-out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437108"/>
                  </a:ext>
                </a:extLst>
              </a:tr>
              <a:tr h="0">
                <a:tc>
                  <a:txBody>
                    <a:bodyPr/>
                    <a:lstStyle/>
                    <a:p>
                      <a:pPr>
                        <a:buNone/>
                      </a:pPr>
                      <a:r>
                        <a:rPr lang="en-IN" sz="1200" b="1" dirty="0">
                          <a:latin typeface="Times New Roman" panose="02020603050405020304" pitchFamily="18" charset="0"/>
                          <a:cs typeface="Times New Roman" panose="02020603050405020304" pitchFamily="18" charset="0"/>
                        </a:rPr>
                        <a:t>Post-speech latency</a:t>
                      </a:r>
                      <a:endParaRPr lang="en-IN" sz="12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b="1" dirty="0">
                          <a:latin typeface="Times New Roman" panose="02020603050405020304" pitchFamily="18" charset="0"/>
                          <a:cs typeface="Times New Roman" panose="02020603050405020304" pitchFamily="18" charset="0"/>
                        </a:rPr>
                        <a:t>2.3 </a:t>
                      </a:r>
                      <a:r>
                        <a:rPr lang="en-IN" sz="1200" b="1" dirty="0" err="1">
                          <a:latin typeface="Times New Roman" panose="02020603050405020304" pitchFamily="18" charset="0"/>
                          <a:cs typeface="Times New Roman" panose="02020603050405020304" pitchFamily="18" charset="0"/>
                        </a:rPr>
                        <a:t>ms</a:t>
                      </a:r>
                      <a:r>
                        <a:rPr lang="en-IN" sz="1200" dirty="0">
                          <a:latin typeface="Times New Roman" panose="02020603050405020304" pitchFamily="18" charset="0"/>
                          <a:cs typeface="Times New Roman" panose="02020603050405020304" pitchFamily="18" charset="0"/>
                        </a:rPr>
                        <a:t> median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70420467"/>
                  </a:ext>
                </a:extLst>
              </a:tr>
            </a:tbl>
          </a:graphicData>
        </a:graphic>
      </p:graphicFrame>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What’s next</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normAutofit/>
          </a:bodyPr>
          <a:lstStyle/>
          <a:p>
            <a:pPr marL="0" indent="0">
              <a:buNone/>
            </a:pPr>
            <a:r>
              <a:rPr lang="en-US" sz="1400" dirty="0">
                <a:latin typeface="Times New Roman" panose="02020603050405020304" pitchFamily="18" charset="0"/>
                <a:cs typeface="Times New Roman" panose="02020603050405020304" pitchFamily="18" charset="0"/>
              </a:rPr>
              <a:t>Our biggest gains now lie in fixing where answers are lost, and in extending the system to noisier, less controlled conditions.</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b="1" dirty="0"/>
          </a:p>
          <a:p>
            <a:pPr marL="0" indent="0">
              <a:buNone/>
            </a:pPr>
            <a:r>
              <a:rPr lang="en-US" sz="1400" b="1" dirty="0"/>
              <a:t>Our approach to each step:</a:t>
            </a:r>
            <a:r>
              <a:rPr lang="en-US" sz="1400" dirty="0"/>
              <a:t> we tested several obvious fixes already, including a bigger </a:t>
            </a:r>
            <a:r>
              <a:rPr lang="en-US" sz="1400" dirty="0" err="1"/>
              <a:t>reranker</a:t>
            </a:r>
            <a:r>
              <a:rPr lang="en-US" sz="1400" dirty="0"/>
              <a:t>, a different embedder and the reader as the main selector, and none cleared our significance bar. So the next gains need targeted changes to the gate and selection, not just bigger models.</a:t>
            </a:r>
          </a:p>
          <a:p>
            <a:pPr marL="0" indent="0">
              <a:buNone/>
            </a:pPr>
            <a:r>
              <a:rPr lang="en-US" sz="1400" b="1" dirty="0"/>
              <a:t>Keeping the same standard:</a:t>
            </a:r>
            <a:r>
              <a:rPr lang="en-US" sz="1400" dirty="0"/>
              <a:t> any new result will be measured the way the current ones were, with a held-out split, paired comparisons and confidence intervals. The generative path in particular won't be claimed as an improvement until it is measured against gold answers.</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414D22C7-2C88-1715-234B-B7F7DCC95131}"/>
              </a:ext>
            </a:extLst>
          </p:cNvPr>
          <p:cNvGraphicFramePr>
            <a:graphicFrameLocks noGrp="1"/>
          </p:cNvGraphicFramePr>
          <p:nvPr>
            <p:extLst>
              <p:ext uri="{D42A27DB-BD31-4B8C-83A1-F6EECF244321}">
                <p14:modId xmlns:p14="http://schemas.microsoft.com/office/powerpoint/2010/main" val="1357574512"/>
              </p:ext>
            </p:extLst>
          </p:nvPr>
        </p:nvGraphicFramePr>
        <p:xfrm>
          <a:off x="968188" y="2377440"/>
          <a:ext cx="10255624" cy="2103120"/>
        </p:xfrm>
        <a:graphic>
          <a:graphicData uri="http://schemas.openxmlformats.org/drawingml/2006/table">
            <a:tbl>
              <a:tblPr/>
              <a:tblGrid>
                <a:gridCol w="5127812">
                  <a:extLst>
                    <a:ext uri="{9D8B030D-6E8A-4147-A177-3AD203B41FA5}">
                      <a16:colId xmlns:a16="http://schemas.microsoft.com/office/drawing/2014/main" val="3146100113"/>
                    </a:ext>
                  </a:extLst>
                </a:gridCol>
                <a:gridCol w="5127812">
                  <a:extLst>
                    <a:ext uri="{9D8B030D-6E8A-4147-A177-3AD203B41FA5}">
                      <a16:colId xmlns:a16="http://schemas.microsoft.com/office/drawing/2014/main" val="2321409136"/>
                    </a:ext>
                  </a:extLst>
                </a:gridCol>
              </a:tblGrid>
              <a:tr h="0">
                <a:tc>
                  <a:txBody>
                    <a:bodyPr/>
                    <a:lstStyle/>
                    <a:p>
                      <a:pPr algn="ctr">
                        <a:buNone/>
                      </a:pPr>
                      <a:r>
                        <a:rPr lang="en-IN" sz="1200" b="1" dirty="0">
                          <a:latin typeface="Times New Roman" panose="02020603050405020304" pitchFamily="18" charset="0"/>
                          <a:cs typeface="Times New Roman" panose="02020603050405020304" pitchFamily="18" charset="0"/>
                        </a:rPr>
                        <a:t>Next step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b="1" dirty="0">
                          <a:latin typeface="Times New Roman" panose="02020603050405020304" pitchFamily="18" charset="0"/>
                          <a:cs typeface="Times New Roman" panose="02020603050405020304" pitchFamily="18" charset="0"/>
                        </a:rPr>
                        <a:t>Why it matters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5884730"/>
                  </a:ext>
                </a:extLst>
              </a:tr>
              <a:tr h="0">
                <a:tc>
                  <a:txBody>
                    <a:bodyPr/>
                    <a:lstStyle/>
                    <a:p>
                      <a:pPr>
                        <a:buNone/>
                      </a:pPr>
                      <a:r>
                        <a:rPr lang="en-US" sz="1200" b="1" dirty="0">
                          <a:latin typeface="Times New Roman" panose="02020603050405020304" pitchFamily="18" charset="0"/>
                          <a:cs typeface="Times New Roman" panose="02020603050405020304" pitchFamily="18" charset="0"/>
                        </a:rPr>
                        <a:t>Improve the refusal gate and sentence selection</a:t>
                      </a:r>
                      <a:endParaRPr lang="en-US" sz="12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Times New Roman" panose="02020603050405020304" pitchFamily="18" charset="0"/>
                          <a:cs typeface="Times New Roman" panose="02020603050405020304" pitchFamily="18" charset="0"/>
                        </a:rPr>
                        <a:t>The two biggest sources of misses: the gate withholds some correct claims, and selection sometimes picks a distractor sentence over the gold 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2595514"/>
                  </a:ext>
                </a:extLst>
              </a:tr>
              <a:tr h="0">
                <a:tc>
                  <a:txBody>
                    <a:bodyPr/>
                    <a:lstStyle/>
                    <a:p>
                      <a:pPr>
                        <a:buNone/>
                      </a:pPr>
                      <a:r>
                        <a:rPr lang="en-IN" sz="1200" b="1" dirty="0">
                          <a:latin typeface="Times New Roman" panose="02020603050405020304" pitchFamily="18" charset="0"/>
                          <a:cs typeface="Times New Roman" panose="02020603050405020304" pitchFamily="18" charset="0"/>
                        </a:rPr>
                        <a:t>Handle noisy speech better</a:t>
                      </a:r>
                      <a:endParaRPr lang="en-IN" sz="12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Times New Roman" panose="02020603050405020304" pitchFamily="18" charset="0"/>
                          <a:cs typeface="Times New Roman" panose="02020603050405020304" pitchFamily="18" charset="0"/>
                        </a:rPr>
                        <a:t>Audio is where we lose the most recall, because real transcripts have no punctuation and contain errors. Planned: vocabulary correction and larger Whisper models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3133232"/>
                  </a:ext>
                </a:extLst>
              </a:tr>
              <a:tr h="0">
                <a:tc>
                  <a:txBody>
                    <a:bodyPr/>
                    <a:lstStyle/>
                    <a:p>
                      <a:pPr>
                        <a:buNone/>
                      </a:pPr>
                      <a:r>
                        <a:rPr lang="en-IN" sz="1200" b="1">
                          <a:latin typeface="Times New Roman" panose="02020603050405020304" pitchFamily="18" charset="0"/>
                          <a:cs typeface="Times New Roman" panose="02020603050405020304" pitchFamily="18" charset="0"/>
                        </a:rPr>
                        <a:t>LLM-backed answer phrasing</a:t>
                      </a:r>
                      <a:endParaRPr lang="en-IN"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Times New Roman" panose="02020603050405020304" pitchFamily="18" charset="0"/>
                          <a:cs typeface="Times New Roman" panose="02020603050405020304" pitchFamily="18" charset="0"/>
                        </a:rPr>
                        <a:t>Already wired as an opt-in path but not yet measured. It would make answers read as prose while keeping every claim cited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61339341"/>
                  </a:ext>
                </a:extLst>
              </a:tr>
              <a:tr h="0">
                <a:tc>
                  <a:txBody>
                    <a:bodyPr/>
                    <a:lstStyle/>
                    <a:p>
                      <a:pPr>
                        <a:buNone/>
                      </a:pPr>
                      <a:r>
                        <a:rPr lang="en-IN" sz="1200" b="1">
                          <a:latin typeface="Times New Roman" panose="02020603050405020304" pitchFamily="18" charset="0"/>
                          <a:cs typeface="Times New Roman" panose="02020603050405020304" pitchFamily="18" charset="0"/>
                        </a:rPr>
                        <a:t>Validate on new ground</a:t>
                      </a:r>
                      <a:endParaRPr lang="en-IN"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dirty="0">
                          <a:latin typeface="Times New Roman" panose="02020603050405020304" pitchFamily="18" charset="0"/>
                          <a:cs typeface="Times New Roman" panose="02020603050405020304" pitchFamily="18" charset="0"/>
                        </a:rPr>
                        <a:t>Test against the hidden corpus and run the Docker clean-machine check (G1)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3682479"/>
                  </a:ext>
                </a:extLst>
              </a:tr>
            </a:tbl>
          </a:graphicData>
        </a:graphic>
      </p:graphicFrame>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Brownie points slide( differentiation)</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a:xfrm>
            <a:off x="838200" y="1359945"/>
            <a:ext cx="10515600" cy="5363584"/>
          </a:xfrm>
        </p:spPr>
        <p:txBody>
          <a:bodyPr>
            <a:normAutofit/>
          </a:bodyPr>
          <a:lstStyle/>
          <a:p>
            <a:pPr marL="0" indent="0">
              <a:buNone/>
            </a:pPr>
            <a:r>
              <a:rPr lang="en-US" sz="1400" dirty="0">
                <a:latin typeface="Times New Roman" panose="02020603050405020304" pitchFamily="18" charset="0"/>
                <a:cs typeface="Times New Roman" panose="02020603050405020304" pitchFamily="18" charset="0"/>
              </a:rPr>
              <a:t>Our edge is that every answer can be checked and every result can be reproduced.</a:t>
            </a:r>
          </a:p>
          <a:p>
            <a:pPr marL="0" indent="0">
              <a:buNone/>
            </a:pPr>
            <a:r>
              <a:rPr lang="en-US" sz="1400" b="1" dirty="0">
                <a:latin typeface="Times New Roman" panose="02020603050405020304" pitchFamily="18" charset="0"/>
                <a:cs typeface="Times New Roman" panose="02020603050405020304" pitchFamily="18" charset="0"/>
              </a:rPr>
              <a:t>Verifiable answers</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Every claim is a verbatim corpus sentence with a citation you can open and check.</a:t>
            </a:r>
          </a:p>
          <a:p>
            <a:r>
              <a:rPr lang="en-US" sz="1400" dirty="0">
                <a:latin typeface="Times New Roman" panose="02020603050405020304" pitchFamily="18" charset="0"/>
                <a:cs typeface="Times New Roman" panose="02020603050405020304" pitchFamily="18" charset="0"/>
              </a:rPr>
              <a:t>Any citation that doesn't resolve to a real chunk is dropped and counted as fabricated (zero in every gate run).</a:t>
            </a:r>
          </a:p>
          <a:p>
            <a:r>
              <a:rPr lang="en-US" sz="1400" dirty="0">
                <a:latin typeface="Times New Roman" panose="02020603050405020304" pitchFamily="18" charset="0"/>
                <a:cs typeface="Times New Roman" panose="02020603050405020304" pitchFamily="18" charset="0"/>
              </a:rPr>
              <a:t>The system refuses when the corpus can't answer, rather than guessing.</a:t>
            </a:r>
          </a:p>
          <a:p>
            <a:pPr marL="0" indent="0">
              <a:buNone/>
            </a:pPr>
            <a:r>
              <a:rPr lang="en-IN" sz="1400" b="1" dirty="0">
                <a:latin typeface="Times New Roman" panose="02020603050405020304" pitchFamily="18" charset="0"/>
                <a:cs typeface="Times New Roman" panose="02020603050405020304" pitchFamily="18" charset="0"/>
              </a:rPr>
              <a:t>Honest evaluation:</a:t>
            </a:r>
          </a:p>
          <a:p>
            <a:pPr marL="0" indent="0">
              <a:buNone/>
            </a:pPr>
            <a:endParaRPr lang="en-IN" sz="1400" b="1" dirty="0">
              <a:latin typeface="Times New Roman" panose="02020603050405020304" pitchFamily="18" charset="0"/>
              <a:cs typeface="Times New Roman" panose="02020603050405020304" pitchFamily="18" charset="0"/>
            </a:endParaRPr>
          </a:p>
          <a:p>
            <a:pPr marL="0" indent="0">
              <a:buNone/>
            </a:pPr>
            <a:endParaRPr lang="en-IN" sz="1400" b="1" dirty="0">
              <a:latin typeface="Times New Roman" panose="02020603050405020304" pitchFamily="18" charset="0"/>
              <a:cs typeface="Times New Roman" panose="02020603050405020304" pitchFamily="18" charset="0"/>
            </a:endParaRPr>
          </a:p>
          <a:p>
            <a:pPr marL="0" indent="0">
              <a:buNone/>
            </a:pPr>
            <a:endParaRPr lang="en-IN" sz="1400" b="1" dirty="0">
              <a:latin typeface="Times New Roman" panose="02020603050405020304" pitchFamily="18" charset="0"/>
              <a:cs typeface="Times New Roman" panose="02020603050405020304" pitchFamily="18" charset="0"/>
            </a:endParaRPr>
          </a:p>
          <a:p>
            <a:pPr marL="0" indent="0">
              <a:buNone/>
            </a:pPr>
            <a:endParaRPr lang="en-IN" sz="1400" b="1" dirty="0">
              <a:latin typeface="Times New Roman" panose="02020603050405020304" pitchFamily="18" charset="0"/>
              <a:cs typeface="Times New Roman" panose="02020603050405020304" pitchFamily="18" charset="0"/>
            </a:endParaRPr>
          </a:p>
          <a:p>
            <a:pPr marL="0" indent="0">
              <a:buNone/>
            </a:pPr>
            <a:endParaRPr lang="en-IN" sz="1400" b="1" dirty="0">
              <a:latin typeface="Times New Roman" panose="02020603050405020304" pitchFamily="18" charset="0"/>
              <a:cs typeface="Times New Roman" panose="02020603050405020304" pitchFamily="18" charset="0"/>
            </a:endParaRPr>
          </a:p>
          <a:p>
            <a:pPr marL="0" indent="0">
              <a:buNone/>
            </a:pPr>
            <a:endParaRPr lang="en-IN" sz="1400" b="1"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Full observability:</a:t>
            </a:r>
            <a:r>
              <a:rPr lang="en-US" sz="1400" dirty="0">
                <a:latin typeface="Times New Roman" panose="02020603050405020304" pitchFamily="18" charset="0"/>
                <a:cs typeface="Times New Roman" panose="02020603050405020304" pitchFamily="18" charset="0"/>
              </a:rPr>
              <a:t> every turn can be rebuilt from the telemetry trace alone, with schema-validated events and a built-in cost model. Telemetry adds only about 2.6% overhead at p95.</a:t>
            </a:r>
          </a:p>
          <a:p>
            <a:r>
              <a:rPr lang="en-US" sz="1400" b="1" dirty="0">
                <a:latin typeface="Times New Roman" panose="02020603050405020304" pitchFamily="18" charset="0"/>
                <a:cs typeface="Times New Roman" panose="02020603050405020304" pitchFamily="18" charset="0"/>
              </a:rPr>
              <a:t>Runs anywhere:</a:t>
            </a:r>
            <a:r>
              <a:rPr lang="en-US" sz="1400" dirty="0">
                <a:latin typeface="Times New Roman" panose="02020603050405020304" pitchFamily="18" charset="0"/>
                <a:cs typeface="Times New Roman" panose="02020603050405020304" pitchFamily="18" charset="0"/>
              </a:rPr>
              <a:t> identical answers on GPU and on the CPU reference image, plus an optional audio front end and a reproducible README with pinned dependencies.</a:t>
            </a:r>
            <a:endParaRPr lang="en-IN"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E43217E4-5BF5-7EEF-6287-333E573BC884}"/>
              </a:ext>
            </a:extLst>
          </p:cNvPr>
          <p:cNvGraphicFramePr>
            <a:graphicFrameLocks noGrp="1"/>
          </p:cNvGraphicFramePr>
          <p:nvPr>
            <p:extLst>
              <p:ext uri="{D42A27DB-BD31-4B8C-83A1-F6EECF244321}">
                <p14:modId xmlns:p14="http://schemas.microsoft.com/office/powerpoint/2010/main" val="1299358722"/>
              </p:ext>
            </p:extLst>
          </p:nvPr>
        </p:nvGraphicFramePr>
        <p:xfrm>
          <a:off x="981635" y="3330389"/>
          <a:ext cx="10228730" cy="1584960"/>
        </p:xfrm>
        <a:graphic>
          <a:graphicData uri="http://schemas.openxmlformats.org/drawingml/2006/table">
            <a:tbl>
              <a:tblPr/>
              <a:tblGrid>
                <a:gridCol w="5114365">
                  <a:extLst>
                    <a:ext uri="{9D8B030D-6E8A-4147-A177-3AD203B41FA5}">
                      <a16:colId xmlns:a16="http://schemas.microsoft.com/office/drawing/2014/main" val="2821274032"/>
                    </a:ext>
                  </a:extLst>
                </a:gridCol>
                <a:gridCol w="5114365">
                  <a:extLst>
                    <a:ext uri="{9D8B030D-6E8A-4147-A177-3AD203B41FA5}">
                      <a16:colId xmlns:a16="http://schemas.microsoft.com/office/drawing/2014/main" val="3792606116"/>
                    </a:ext>
                  </a:extLst>
                </a:gridCol>
              </a:tblGrid>
              <a:tr h="0">
                <a:tc>
                  <a:txBody>
                    <a:bodyPr/>
                    <a:lstStyle/>
                    <a:p>
                      <a:pPr algn="ctr">
                        <a:buNone/>
                      </a:pPr>
                      <a:r>
                        <a:rPr lang="en-IN" sz="1400" b="1" dirty="0">
                          <a:latin typeface="Times New Roman" panose="02020603050405020304" pitchFamily="18" charset="0"/>
                          <a:cs typeface="Times New Roman" panose="02020603050405020304" pitchFamily="18" charset="0"/>
                        </a:rPr>
                        <a:t>Practice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latin typeface="Times New Roman" panose="02020603050405020304" pitchFamily="18" charset="0"/>
                          <a:cs typeface="Times New Roman" panose="02020603050405020304" pitchFamily="18" charset="0"/>
                        </a:rPr>
                        <a:t>What we did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448126"/>
                  </a:ext>
                </a:extLst>
              </a:tr>
              <a:tr h="0">
                <a:tc>
                  <a:txBody>
                    <a:bodyPr/>
                    <a:lstStyle/>
                    <a:p>
                      <a:pPr>
                        <a:buNone/>
                      </a:pPr>
                      <a:r>
                        <a:rPr lang="en-IN" sz="1200" b="1" dirty="0">
                          <a:latin typeface="Times New Roman" panose="02020603050405020304" pitchFamily="18" charset="0"/>
                          <a:cs typeface="Times New Roman" panose="02020603050405020304" pitchFamily="18" charset="0"/>
                        </a:rPr>
                        <a:t>Sealed test split</a:t>
                      </a:r>
                      <a:endParaRPr lang="en-IN" sz="12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dirty="0">
                          <a:latin typeface="Times New Roman" panose="02020603050405020304" pitchFamily="18" charset="0"/>
                          <a:cs typeface="Times New Roman" panose="02020603050405020304" pitchFamily="18" charset="0"/>
                        </a:rPr>
                        <a:t>Run exactly once, after every design decision was frozen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11912526"/>
                  </a:ext>
                </a:extLst>
              </a:tr>
              <a:tr h="0">
                <a:tc>
                  <a:txBody>
                    <a:bodyPr/>
                    <a:lstStyle/>
                    <a:p>
                      <a:pPr>
                        <a:buNone/>
                      </a:pPr>
                      <a:r>
                        <a:rPr lang="en-IN" sz="1200" b="1" dirty="0">
                          <a:latin typeface="Times New Roman" panose="02020603050405020304" pitchFamily="18" charset="0"/>
                          <a:cs typeface="Times New Roman" panose="02020603050405020304" pitchFamily="18" charset="0"/>
                        </a:rPr>
                        <a:t>Confidence intervals</a:t>
                      </a:r>
                      <a:endParaRPr lang="en-IN" sz="12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Times New Roman" panose="02020603050405020304" pitchFamily="18" charset="0"/>
                          <a:cs typeface="Times New Roman" panose="02020603050405020304" pitchFamily="18" charset="0"/>
                        </a:rPr>
                        <a:t>Wilson intervals on every rate, paired bootstrap for comparisons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94901726"/>
                  </a:ext>
                </a:extLst>
              </a:tr>
              <a:tr h="0">
                <a:tc>
                  <a:txBody>
                    <a:bodyPr/>
                    <a:lstStyle/>
                    <a:p>
                      <a:pPr>
                        <a:buNone/>
                      </a:pPr>
                      <a:r>
                        <a:rPr lang="en-IN" sz="1200" b="1">
                          <a:latin typeface="Times New Roman" panose="02020603050405020304" pitchFamily="18" charset="0"/>
                          <a:cs typeface="Times New Roman" panose="02020603050405020304" pitchFamily="18" charset="0"/>
                        </a:rPr>
                        <a:t>Rejected alternatives</a:t>
                      </a:r>
                      <a:endParaRPr lang="en-IN"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Times New Roman" panose="02020603050405020304" pitchFamily="18" charset="0"/>
                          <a:cs typeface="Times New Roman" panose="02020603050405020304" pitchFamily="18" charset="0"/>
                        </a:rPr>
                        <a:t>Tested a bigger reranker, another embedder and more, and dropped those that didn't clear significance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77672993"/>
                  </a:ext>
                </a:extLst>
              </a:tr>
              <a:tr h="0">
                <a:tc>
                  <a:txBody>
                    <a:bodyPr/>
                    <a:lstStyle/>
                    <a:p>
                      <a:pPr>
                        <a:buNone/>
                      </a:pPr>
                      <a:r>
                        <a:rPr lang="en-IN" sz="1200" b="1" dirty="0">
                          <a:latin typeface="Times New Roman" panose="02020603050405020304" pitchFamily="18" charset="0"/>
                          <a:cs typeface="Times New Roman" panose="02020603050405020304" pitchFamily="18" charset="0"/>
                        </a:rPr>
                        <a:t>Weaknesses reported</a:t>
                      </a:r>
                      <a:endParaRPr lang="en-IN" sz="12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dirty="0">
                          <a:latin typeface="Times New Roman" panose="02020603050405020304" pitchFamily="18" charset="0"/>
                          <a:cs typeface="Times New Roman" panose="02020603050405020304" pitchFamily="18" charset="0"/>
                        </a:rPr>
                        <a:t>Recall ceiling, audio gap and the G1 gap are all stated openly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7378989"/>
                  </a:ext>
                </a:extLst>
              </a:tr>
            </a:tbl>
          </a:graphicData>
        </a:graphic>
      </p:graphicFrame>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lstStyle/>
          <a:p>
            <a:r>
              <a:rPr lang="en-IN" b="1" dirty="0">
                <a:solidFill>
                  <a:srgbClr val="704EA6"/>
                </a:solidFill>
                <a:latin typeface="+mn-lt"/>
              </a:rPr>
              <a:t>Checklist- Updated on Public GitHub</a:t>
            </a:r>
          </a:p>
        </p:txBody>
      </p:sp>
      <p:graphicFrame>
        <p:nvGraphicFramePr>
          <p:cNvPr id="4" name="Content Placeholder 3">
            <a:extLst>
              <a:ext uri="{FF2B5EF4-FFF2-40B4-BE49-F238E27FC236}">
                <a16:creationId xmlns:a16="http://schemas.microsoft.com/office/drawing/2014/main" id="{3C96D6DD-679D-69C4-A031-0E212C5844E9}"/>
              </a:ext>
            </a:extLst>
          </p:cNvPr>
          <p:cNvGraphicFramePr>
            <a:graphicFrameLocks noGrp="1"/>
          </p:cNvGraphicFramePr>
          <p:nvPr>
            <p:ph idx="1"/>
            <p:extLst>
              <p:ext uri="{D42A27DB-BD31-4B8C-83A1-F6EECF244321}">
                <p14:modId xmlns:p14="http://schemas.microsoft.com/office/powerpoint/2010/main" val="4167236279"/>
              </p:ext>
            </p:extLst>
          </p:nvPr>
        </p:nvGraphicFramePr>
        <p:xfrm>
          <a:off x="1091961" y="1825625"/>
          <a:ext cx="10008078" cy="4577937"/>
        </p:xfrm>
        <a:graphic>
          <a:graphicData uri="http://schemas.openxmlformats.org/drawingml/2006/table">
            <a:tbl>
              <a:tblPr/>
              <a:tblGrid>
                <a:gridCol w="3336026">
                  <a:extLst>
                    <a:ext uri="{9D8B030D-6E8A-4147-A177-3AD203B41FA5}">
                      <a16:colId xmlns:a16="http://schemas.microsoft.com/office/drawing/2014/main" val="1401186585"/>
                    </a:ext>
                  </a:extLst>
                </a:gridCol>
                <a:gridCol w="3336026">
                  <a:extLst>
                    <a:ext uri="{9D8B030D-6E8A-4147-A177-3AD203B41FA5}">
                      <a16:colId xmlns:a16="http://schemas.microsoft.com/office/drawing/2014/main" val="1454354231"/>
                    </a:ext>
                  </a:extLst>
                </a:gridCol>
                <a:gridCol w="3336026">
                  <a:extLst>
                    <a:ext uri="{9D8B030D-6E8A-4147-A177-3AD203B41FA5}">
                      <a16:colId xmlns:a16="http://schemas.microsoft.com/office/drawing/2014/main" val="2851552871"/>
                    </a:ext>
                  </a:extLst>
                </a:gridCol>
              </a:tblGrid>
              <a:tr h="348107">
                <a:tc>
                  <a:txBody>
                    <a:bodyPr/>
                    <a:lstStyle/>
                    <a:p>
                      <a:pPr>
                        <a:buNone/>
                      </a:pPr>
                      <a:r>
                        <a:rPr lang="en-IN" sz="1700">
                          <a:latin typeface="Times New Roman" panose="02020603050405020304" pitchFamily="18" charset="0"/>
                          <a:cs typeface="Times New Roman" panose="02020603050405020304" pitchFamily="18" charset="0"/>
                        </a:rPr>
                        <a:t>Item</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700">
                          <a:latin typeface="Times New Roman" panose="02020603050405020304" pitchFamily="18" charset="0"/>
                          <a:cs typeface="Times New Roman" panose="02020603050405020304" pitchFamily="18" charset="0"/>
                        </a:rPr>
                        <a:t>Status</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700">
                          <a:latin typeface="Times New Roman" panose="02020603050405020304" pitchFamily="18" charset="0"/>
                          <a:cs typeface="Times New Roman" panose="02020603050405020304" pitchFamily="18" charset="0"/>
                        </a:rPr>
                        <a:t>Note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24943737"/>
                  </a:ext>
                </a:extLst>
              </a:tr>
              <a:tr h="1131348">
                <a:tc>
                  <a:txBody>
                    <a:bodyPr/>
                    <a:lstStyle/>
                    <a:p>
                      <a:pPr>
                        <a:buNone/>
                      </a:pPr>
                      <a:r>
                        <a:rPr lang="en-US" sz="1700" b="1" dirty="0">
                          <a:latin typeface="Times New Roman" panose="02020603050405020304" pitchFamily="18" charset="0"/>
                          <a:cs typeface="Times New Roman" panose="02020603050405020304" pitchFamily="18" charset="0"/>
                        </a:rPr>
                        <a:t>Working prototype code (public GitHub repo)</a:t>
                      </a:r>
                      <a:endParaRPr lang="en-US" sz="1700" dirty="0">
                        <a:latin typeface="Times New Roman" panose="02020603050405020304" pitchFamily="18" charset="0"/>
                        <a:cs typeface="Times New Roman" panose="02020603050405020304" pitchFamily="18" charset="0"/>
                      </a:endParaRP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700" b="1" dirty="0">
                          <a:latin typeface="Times New Roman" panose="02020603050405020304" pitchFamily="18" charset="0"/>
                          <a:cs typeface="Times New Roman" panose="02020603050405020304" pitchFamily="18" charset="0"/>
                        </a:rPr>
                        <a:t>Y</a:t>
                      </a:r>
                      <a:endParaRPr lang="en-IN" sz="1700" dirty="0">
                        <a:latin typeface="Times New Roman" panose="02020603050405020304" pitchFamily="18" charset="0"/>
                        <a:cs typeface="Times New Roman" panose="02020603050405020304" pitchFamily="18" charset="0"/>
                      </a:endParaRP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700" dirty="0">
                          <a:latin typeface="Times New Roman" panose="02020603050405020304" pitchFamily="18" charset="0"/>
                          <a:cs typeface="Times New Roman" panose="02020603050405020304" pitchFamily="18" charset="0"/>
                        </a:rPr>
                        <a:t>https://github.com/shritank/streaming-live-rag</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83655665"/>
                  </a:ext>
                </a:extLst>
              </a:tr>
              <a:tr h="1131348">
                <a:tc>
                  <a:txBody>
                    <a:bodyPr/>
                    <a:lstStyle/>
                    <a:p>
                      <a:pPr>
                        <a:buNone/>
                      </a:pPr>
                      <a:r>
                        <a:rPr lang="en-US" sz="1700" b="1">
                          <a:latin typeface="Times New Roman" panose="02020603050405020304" pitchFamily="18" charset="0"/>
                          <a:cs typeface="Times New Roman" panose="02020603050405020304" pitchFamily="18" charset="0"/>
                        </a:rPr>
                        <a:t>README with reproducible setup instructions</a:t>
                      </a:r>
                      <a:endParaRPr lang="en-US" sz="1700">
                        <a:latin typeface="Times New Roman" panose="02020603050405020304" pitchFamily="18" charset="0"/>
                        <a:cs typeface="Times New Roman" panose="02020603050405020304" pitchFamily="18" charset="0"/>
                      </a:endParaRP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700" b="1">
                          <a:latin typeface="Times New Roman" panose="02020603050405020304" pitchFamily="18" charset="0"/>
                          <a:cs typeface="Times New Roman" panose="02020603050405020304" pitchFamily="18" charset="0"/>
                        </a:rPr>
                        <a:t>Y</a:t>
                      </a:r>
                      <a:endParaRPr lang="en-IN" sz="1700">
                        <a:latin typeface="Times New Roman" panose="02020603050405020304" pitchFamily="18" charset="0"/>
                        <a:cs typeface="Times New Roman" panose="02020603050405020304" pitchFamily="18" charset="0"/>
                      </a:endParaRP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700">
                          <a:latin typeface="Times New Roman" panose="02020603050405020304" pitchFamily="18" charset="0"/>
                          <a:cs typeface="Times New Roman" panose="02020603050405020304" pitchFamily="18" charset="0"/>
                        </a:rPr>
                        <a:t>Covers the GPU and CPU quickstarts, pinned dependencies, and commands to reproduce every reported number</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4677082"/>
                  </a:ext>
                </a:extLst>
              </a:tr>
              <a:tr h="1392428">
                <a:tc>
                  <a:txBody>
                    <a:bodyPr/>
                    <a:lstStyle/>
                    <a:p>
                      <a:pPr>
                        <a:buNone/>
                      </a:pPr>
                      <a:r>
                        <a:rPr lang="en-IN" sz="1700" b="1">
                          <a:latin typeface="Times New Roman" panose="02020603050405020304" pitchFamily="18" charset="0"/>
                          <a:cs typeface="Times New Roman" panose="02020603050405020304" pitchFamily="18" charset="0"/>
                        </a:rPr>
                        <a:t>Demo video (max 5 min)</a:t>
                      </a:r>
                      <a:endParaRPr lang="en-IN" sz="1700">
                        <a:latin typeface="Times New Roman" panose="02020603050405020304" pitchFamily="18" charset="0"/>
                        <a:cs typeface="Times New Roman" panose="02020603050405020304" pitchFamily="18" charset="0"/>
                      </a:endParaRP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700" b="1" dirty="0">
                          <a:latin typeface="Times New Roman" panose="02020603050405020304" pitchFamily="18" charset="0"/>
                          <a:cs typeface="Times New Roman" panose="02020603050405020304" pitchFamily="18" charset="0"/>
                        </a:rPr>
                        <a:t>Y</a:t>
                      </a:r>
                      <a:endParaRPr lang="en-IN" sz="1700" dirty="0">
                        <a:latin typeface="Times New Roman" panose="02020603050405020304" pitchFamily="18" charset="0"/>
                        <a:cs typeface="Times New Roman" panose="02020603050405020304" pitchFamily="18" charset="0"/>
                      </a:endParaRP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700">
                          <a:latin typeface="Times New Roman" panose="02020603050405020304" pitchFamily="18" charset="0"/>
                          <a:cs typeface="Times New Roman" panose="02020603050405020304" pitchFamily="18" charset="0"/>
                        </a:rPr>
                        <a:t>Required and not yet recorded. The script in demo_script.md is ready, so record it, upload it to YouTube or Drive, and paste the link here and on slide 5</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9472908"/>
                  </a:ext>
                </a:extLst>
              </a:tr>
              <a:tr h="348107">
                <a:tc>
                  <a:txBody>
                    <a:bodyPr/>
                    <a:lstStyle/>
                    <a:p>
                      <a:pPr>
                        <a:buNone/>
                      </a:pPr>
                      <a:r>
                        <a:rPr lang="en-IN" sz="1700" b="1">
                          <a:latin typeface="Times New Roman" panose="02020603050405020304" pitchFamily="18" charset="0"/>
                          <a:cs typeface="Times New Roman" panose="02020603050405020304" pitchFamily="18" charset="0"/>
                        </a:rPr>
                        <a:t>Presentation file (PPT or PDF)</a:t>
                      </a:r>
                      <a:endParaRPr lang="en-IN" sz="1700">
                        <a:latin typeface="Times New Roman" panose="02020603050405020304" pitchFamily="18" charset="0"/>
                        <a:cs typeface="Times New Roman" panose="02020603050405020304" pitchFamily="18" charset="0"/>
                      </a:endParaRP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700" b="1" dirty="0">
                          <a:latin typeface="Times New Roman" panose="02020603050405020304" pitchFamily="18" charset="0"/>
                          <a:cs typeface="Times New Roman" panose="02020603050405020304" pitchFamily="18" charset="0"/>
                        </a:rPr>
                        <a:t>Y</a:t>
                      </a:r>
                      <a:endParaRPr lang="en-US" sz="1700" dirty="0">
                        <a:latin typeface="Times New Roman" panose="02020603050405020304" pitchFamily="18" charset="0"/>
                        <a:cs typeface="Times New Roman" panose="02020603050405020304" pitchFamily="18" charset="0"/>
                      </a:endParaRP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t>Exported a PDF copy as well as the PPT</a:t>
                      </a:r>
                      <a:endParaRPr lang="en-IN" sz="1700" dirty="0">
                        <a:latin typeface="Times New Roman" panose="02020603050405020304" pitchFamily="18" charset="0"/>
                        <a:cs typeface="Times New Roman" panose="02020603050405020304" pitchFamily="18" charset="0"/>
                      </a:endParaRPr>
                    </a:p>
                  </a:txBody>
                  <a:tcPr marL="87027" marR="87027" marT="43513" marB="4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4966416"/>
                  </a:ext>
                </a:extLst>
              </a:tr>
            </a:tbl>
          </a:graphicData>
        </a:graphic>
      </p:graphicFrame>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lstStyle/>
          <a:p>
            <a:pPr marL="0" indent="0">
              <a:buNone/>
            </a:pPr>
            <a:r>
              <a:rPr lang="en-US" sz="4600" b="1" dirty="0">
                <a:solidFill>
                  <a:srgbClr val="14142B"/>
                </a:solidFill>
                <a:latin typeface="Arial" pitchFamily="34" charset="0"/>
                <a:ea typeface="Arial" pitchFamily="34" charset="-122"/>
                <a:cs typeface="Arial" pitchFamily="34" charset="-120"/>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161</TotalTime>
  <Words>2317</Words>
  <Application>Microsoft Office PowerPoint</Application>
  <PresentationFormat>Widescreen</PresentationFormat>
  <Paragraphs>265</Paragraphs>
  <Slides>12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Shritan Kalidindi</cp:lastModifiedBy>
  <cp:revision>15</cp:revision>
  <dcterms:created xsi:type="dcterms:W3CDTF">2026-09-07T12:01:01Z</dcterms:created>
  <dcterms:modified xsi:type="dcterms:W3CDTF">2026-09-30T18:54:21Z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